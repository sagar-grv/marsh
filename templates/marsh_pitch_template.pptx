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54864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560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MARSH</a:t>
            </a:r>
          </a:p>
          <a:p>
            <a:pPr>
              <a:spcBef>
                <a:spcPts val="600"/>
              </a:spcBef>
              <a:defRPr sz="1500" b="1">
                <a:solidFill>
                  <a:srgbClr val="00A3E0"/>
                </a:solidFill>
                <a:latin typeface="Calibri"/>
              </a:defRPr>
            </a:pPr>
            <a:r>
              <a:t>RISK ADVISORY</a:t>
            </a:r>
          </a:p>
        </p:txBody>
      </p:sp>
      <p:sp>
        <p:nvSpPr>
          <p:cNvPr id="6" name="cover_title"/>
          <p:cNvSpPr txBox="1"/>
          <p:nvPr/>
        </p:nvSpPr>
        <p:spPr>
          <a:xfrm>
            <a:off x="4389120" y="1828800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205B"/>
                </a:solidFill>
                <a:latin typeface="Calibri"/>
              </a:defRPr>
            </a:pPr>
            <a:r>
              <a:t>Corporate Health &amp; Benefits Strategy</a:t>
            </a:r>
          </a:p>
        </p:txBody>
      </p:sp>
      <p:sp>
        <p:nvSpPr>
          <p:cNvPr id="7" name="cover_subtitle"/>
          <p:cNvSpPr txBox="1"/>
          <p:nvPr/>
        </p:nvSpPr>
        <p:spPr>
          <a:xfrm>
            <a:off x="4389120" y="306324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A3E0"/>
                </a:solidFill>
                <a:latin typeface="Calibri"/>
              </a:defRPr>
            </a:pPr>
            <a:r>
              <a:t>Prepared for Corporate Client</a:t>
            </a:r>
          </a:p>
        </p:txBody>
      </p:sp>
      <p:sp>
        <p:nvSpPr>
          <p:cNvPr id="8" name="cover_client"/>
          <p:cNvSpPr txBox="1"/>
          <p:nvPr/>
        </p:nvSpPr>
        <p:spPr>
          <a:xfrm>
            <a:off x="4389120" y="393192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Enterprise Client Placement</a:t>
            </a:r>
          </a:p>
        </p:txBody>
      </p:sp>
      <p:sp>
        <p:nvSpPr>
          <p:cNvPr id="9" name="cover_date"/>
          <p:cNvSpPr txBox="1"/>
          <p:nvPr/>
        </p:nvSpPr>
        <p:spPr>
          <a:xfrm>
            <a:off x="438912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September 28, 2026</a:t>
            </a:r>
          </a:p>
        </p:txBody>
      </p:sp>
      <p:sp>
        <p:nvSpPr>
          <p:cNvPr id="10" name="cover_footer"/>
          <p:cNvSpPr txBox="1"/>
          <p:nvPr/>
        </p:nvSpPr>
        <p:spPr>
          <a:xfrm>
            <a:off x="7772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  <a:latin typeface="Calibri"/>
              </a:defRPr>
            </a:pPr>
            <a:r>
              <a:t>Marsh Risk Advisory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2_title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Company Overview &amp; Occupational Exposures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28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A3E0"/>
                </a:solidFill>
                <a:latin typeface="Calibri"/>
              </a:defRPr>
            </a:pPr>
            <a:r>
              <a:t>MARSH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Marsh Risk Advisory  |  Strictly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4754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205B"/>
                </a:solidFill>
                <a:latin typeface="Calibri"/>
              </a:defRPr>
            </a:pPr>
            <a:r>
              <a:t>ORGANIZATIONAL PROFILE</a:t>
            </a:r>
          </a:p>
        </p:txBody>
      </p:sp>
      <p:sp>
        <p:nvSpPr>
          <p:cNvPr id="10" name="slide2_industry"/>
          <p:cNvSpPr txBox="1"/>
          <p:nvPr/>
        </p:nvSpPr>
        <p:spPr>
          <a:xfrm>
            <a:off x="1005840" y="19202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Industry: Technology &amp; Information Services</a:t>
            </a:r>
          </a:p>
        </p:txBody>
      </p:sp>
      <p:sp>
        <p:nvSpPr>
          <p:cNvPr id="11" name="slide2_size"/>
          <p:cNvSpPr txBox="1"/>
          <p:nvPr/>
        </p:nvSpPr>
        <p:spPr>
          <a:xfrm>
            <a:off x="1005840" y="26060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Workforce Size: 50,000+ Employees</a:t>
            </a:r>
          </a:p>
        </p:txBody>
      </p:sp>
      <p:sp>
        <p:nvSpPr>
          <p:cNvPr id="12" name="slide2_company_box"/>
          <p:cNvSpPr txBox="1"/>
          <p:nvPr/>
        </p:nvSpPr>
        <p:spPr>
          <a:xfrm>
            <a:off x="1005840" y="329184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0205B"/>
                </a:solidFill>
                <a:latin typeface="Calibri"/>
              </a:defRPr>
            </a:pPr>
            <a:r>
              <a:t>Company operations overview.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280160"/>
            <a:ext cx="548640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205B"/>
                </a:solidFill>
                <a:latin typeface="Calibri"/>
              </a:defRPr>
            </a:pPr>
            <a:r>
              <a:t>KEY OCCUPATIONAL EXPOSURES</a:t>
            </a:r>
          </a:p>
        </p:txBody>
      </p:sp>
      <p:sp>
        <p:nvSpPr>
          <p:cNvPr id="15" name="slide2_risks"/>
          <p:cNvSpPr txBox="1"/>
          <p:nvPr/>
        </p:nvSpPr>
        <p:spPr>
          <a:xfrm>
            <a:off x="621792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0205B"/>
                </a:solidFill>
                <a:latin typeface="Calibri"/>
              </a:defRPr>
            </a:pPr>
            <a:r>
              <a:t>• Occupational risks identified across workforce.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3_title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Policy Benefits Mapped to Corporate Exposures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28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A3E0"/>
                </a:solidFill>
                <a:latin typeface="Calibri"/>
              </a:defRPr>
            </a:pPr>
            <a:r>
              <a:t>MARSH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Marsh Risk Advisory  |  Strictly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75569"/>
                </a:solidFill>
                <a:latin typeface="Calibri"/>
              </a:defRPr>
            </a:pPr>
            <a:r>
              <a:t>IDENTIFIED EXPOSURES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A3E0"/>
                </a:solidFill>
                <a:latin typeface="Calibri"/>
              </a:defRPr>
            </a:pPr>
            <a:r>
              <a:t>TARGETED POLICY BENEFITS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77840" y="3291840"/>
            <a:ext cx="1005840" cy="731520"/>
          </a:xfrm>
          <a:prstGeom prst="rightArrow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448056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lide3_risk_column"/>
          <p:cNvSpPr txBox="1"/>
          <p:nvPr/>
        </p:nvSpPr>
        <p:spPr>
          <a:xfrm>
            <a:off x="914400" y="178308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0205B"/>
                </a:solidFill>
                <a:latin typeface="Calibri"/>
              </a:defRPr>
            </a:pPr>
            <a:r>
              <a:t>• Identified risk exposures.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600200"/>
            <a:ext cx="457200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lide3_benefit_column"/>
          <p:cNvSpPr txBox="1"/>
          <p:nvPr/>
        </p:nvSpPr>
        <p:spPr>
          <a:xfrm>
            <a:off x="7040880" y="178308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0205B"/>
                </a:solidFill>
                <a:latin typeface="Calibri"/>
              </a:defRPr>
            </a:pPr>
            <a:r>
              <a:t>• Corresponding policy benefits.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08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4_title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Recommended Policy Placement &amp; Strategic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28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0A3E0"/>
                </a:solidFill>
                <a:latin typeface="Calibri"/>
              </a:defRPr>
            </a:pPr>
            <a:r>
              <a:t>MARSH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Marsh Risk Advisory  |  Strictly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5912" cy="3017520"/>
          </a:xfrm>
          <a:prstGeom prst="roundRect">
            <a:avLst/>
          </a:prstGeom>
          <a:solidFill>
            <a:srgbClr val="E0F4FC"/>
          </a:solidFill>
          <a:ln w="1905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lide4_recommendation"/>
          <p:cNvSpPr txBox="1"/>
          <p:nvPr/>
        </p:nvSpPr>
        <p:spPr>
          <a:xfrm>
            <a:off x="1005840" y="141732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205B"/>
                </a:solidFill>
                <a:latin typeface="Calibri"/>
              </a:defRPr>
            </a:pPr>
            <a:r>
              <a:t>Recommended insurer placement and key reasons.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75569"/>
                </a:solidFill>
                <a:latin typeface="Calibri"/>
              </a:defRPr>
            </a:pPr>
            <a:r>
              <a:t>IMPLEMENTATION ROADMAP &amp; NEXT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725912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lide4_next_steps"/>
          <p:cNvSpPr txBox="1"/>
          <p:nvPr/>
        </p:nvSpPr>
        <p:spPr>
          <a:xfrm>
            <a:off x="1005840" y="498348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205B"/>
                </a:solidFill>
                <a:latin typeface="Calibri"/>
              </a:defRPr>
            </a:pPr>
            <a:r>
              <a:t>1. Requirement Validation | 2. Custom Quotation | 3. Broker Presentation | 4. Policy Placement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