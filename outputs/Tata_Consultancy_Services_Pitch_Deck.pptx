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[Marsh Broker Presentation Script]</a:t>
            </a:r>
          </a:p>
          <a:p/>
          <a:p>
            <a:r>
              <a:t>Good morning, leadership team. I’ll start by quantifying the scale of TCS’s workforce and the specific health exposures that drive cost and productivity risk. With nearly 1.5 million employees, the multi‑shift model means a massive seated population, directly feeding musculoskeletal and visual fatigue trends we’ve measured through internal health audits. Stress and mental‑health indicators are also elevated, especially during high‑demand delivery windows, translating into measurable payroll impact. Finally, the pandemic experience highlighted the importance of rapid, cashless access to care. These data points set the foundation for why a tailored corporate health solution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[Marsh Broker Presentation Script]</a:t>
            </a:r>
          </a:p>
          <a:p/>
          <a:p>
            <a:r>
              <a:t>Transitioning to why Marsh is the optimal partner: our sheer placement volume translates into negotiating power that directly benefits TCS through premium discounts. Our claims turnaround is industry‑leading at 98% within a week, which matters when employees need rapid care. The dedicated broker‑claims liaison model ensures that every claim is championed, reducing friction and out‑of‑pocket surprises. Our analytics platform will give TCS leadership visibility into health trends, enabling data‑driven wellness programs. Finally, our custom policy drafting ensures the coverage is precisely matched to the occupational risks we just outlined.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[Marsh Broker Presentation Script]</a:t>
            </a:r>
          </a:p>
          <a:p/>
          <a:p>
            <a:r>
              <a:t>Now let’s map TCS’s risk profile to concrete policy features. The Optima Wellbeing add‑on gives generous OPD limits and e‑Opinion, perfect for managing eye‑strain and routine diagnostics without out‑of‑pocket delays. ABCD Chronic Care kicks in after the first month, covering the chronic conditions that are rising in a sedentary cohort. AYUSH coverage aligns with TCS’s employee wellness initiatives that promote yoga and alternative therapies. The my: health critical illness rider offers a lump‑sum that can offset the financial shock of severe diagnoses. Finally, the cashless in‑patient network ensures that during any infectious disease surge, employees can access care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[Marsh Broker Presentation Script]</a:t>
            </a:r>
          </a:p>
          <a:p/>
          <a:p>
            <a:r>
              <a:t>Our recommendation is to anchor the corporate health program with HDFC Optima Secure+ because it delivers the breadth of OPD, chronic care, AYUSH, and cashless network that TCS requires, with a 30‑day waiting period that aligns with standard onboarding cycles. For senior leadership, we layer Niva Bupa’s ReAssure 2.0 Platinum to provide higher in‑patient caps and extended pre/post‑hospitalisation windows. The rollout follows a three‑phase roadmap: a focused pilot to validate enrollment and analytics, a rapid scale to the full workforce, and an optimization stage where we fine‑tune limits and introduce preventive ergonomics. This structured approach ensures cost‑efficiency, high employee adoption, and measurable risk reduction.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0" cy="6858000"/>
          </a:xfrm>
          <a:prstGeom prst="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0" y="0"/>
            <a:ext cx="45720" cy="68580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560320"/>
            <a:ext cx="2560320" cy="2286000"/>
          </a:xfrm>
          <a:prstGeom prst="rect">
            <a:avLst/>
          </a:prstGeom>
          <a:noFill/>
        </p:spPr>
        <p:txBody>
          <a:bodyPr wrap="square" lIns="0" tIns="0">
            <a:spAutoFit/>
          </a:bodyPr>
          <a:lstStyle/>
          <a:p>
            <a:pPr>
              <a:defRPr sz="4000" b="1">
                <a:solidFill>
                  <a:srgbClr val="FFFFFF"/>
                </a:solidFill>
                <a:latin typeface="Calibri"/>
              </a:defRPr>
            </a:pPr>
            <a:r>
              <a:t>MARSH</a:t>
            </a:r>
          </a:p>
          <a:p>
            <a:pPr>
              <a:spcBef>
                <a:spcPts val="600"/>
              </a:spcBef>
              <a:defRPr sz="1600" b="1">
                <a:solidFill>
                  <a:srgbClr val="00A3E0"/>
                </a:solidFill>
                <a:latin typeface="Calibri"/>
              </a:defRPr>
            </a:pPr>
            <a:r>
              <a:t>RISK ADVISORY</a:t>
            </a:r>
          </a:p>
        </p:txBody>
      </p:sp>
      <p:sp>
        <p:nvSpPr>
          <p:cNvPr id="6" name="TextBox 5"/>
          <p:cNvSpPr txBox="1"/>
          <p:nvPr/>
        </p:nvSpPr>
        <p:spPr>
          <a:xfrm>
            <a:off x="4389120" y="2011680"/>
            <a:ext cx="7040880" cy="3200400"/>
          </a:xfrm>
          <a:prstGeom prst="rect">
            <a:avLst/>
          </a:prstGeom>
          <a:noFill/>
        </p:spPr>
        <p:txBody>
          <a:bodyPr wrap="square" lIns="0" tIns="0">
            <a:spAutoFit/>
          </a:bodyPr>
          <a:lstStyle/>
          <a:p>
            <a:pPr>
              <a:spcAft>
                <a:spcPts val="1400"/>
              </a:spcAft>
              <a:defRPr sz="4400" b="1">
                <a:solidFill>
                  <a:srgbClr val="00205B"/>
                </a:solidFill>
                <a:latin typeface="Calibri"/>
              </a:defRPr>
            </a:pPr>
            <a:r>
              <a:t>Corporate Health &amp; Benefits Strategy</a:t>
            </a:r>
          </a:p>
          <a:p>
            <a:pPr>
              <a:spcAft>
                <a:spcPts val="2000"/>
              </a:spcAft>
              <a:defRPr sz="2400">
                <a:solidFill>
                  <a:srgbClr val="475569"/>
                </a:solidFill>
                <a:latin typeface="Calibri"/>
              </a:defRPr>
            </a:pPr>
            <a:r>
              <a:t>Prepared for Tata Consultancy Services</a:t>
            </a:r>
          </a:p>
          <a:p>
            <a:pPr>
              <a:defRPr sz="1400">
                <a:solidFill>
                  <a:srgbClr val="475569"/>
                </a:solidFill>
                <a:latin typeface="Calibri"/>
              </a:defRPr>
            </a:pPr>
            <a:r>
              <a:t>Data-Driven Risk Placement &amp; Statutory Policy Architecture</a:t>
            </a:r>
          </a:p>
        </p:txBody>
      </p:sp>
      <p:sp>
        <p:nvSpPr>
          <p:cNvPr id="7" name="TextBox 6"/>
          <p:cNvSpPr txBox="1"/>
          <p:nvPr/>
        </p:nvSpPr>
        <p:spPr>
          <a:xfrm>
            <a:off x="4389120" y="5852160"/>
            <a:ext cx="7040880" cy="457200"/>
          </a:xfrm>
          <a:prstGeom prst="rect">
            <a:avLst/>
          </a:prstGeom>
          <a:noFill/>
        </p:spPr>
        <p:txBody>
          <a:bodyPr wrap="none" lIns="0">
            <a:spAutoFit/>
          </a:bodyPr>
          <a:lstStyle/>
          <a:p>
            <a:pPr>
              <a:defRPr sz="1200">
                <a:solidFill>
                  <a:srgbClr val="475569"/>
                </a:solidFill>
                <a:latin typeface="Calibri"/>
              </a:defRPr>
            </a:pPr>
            <a:r>
              <a:t>September 27, 2026  |  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88952" cy="50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
            <a:ext cx="9601200" cy="640080"/>
          </a:xfrm>
          <a:prstGeom prst="rect">
            <a:avLst/>
          </a:prstGeom>
          <a:noFill/>
        </p:spPr>
        <p:txBody>
          <a:bodyPr wrap="square" lIns="0" tIns="0">
            <a:spAutoFit/>
          </a:bodyPr>
          <a:lstStyle/>
          <a:p>
            <a:pPr>
              <a:defRPr sz="2800" b="1">
                <a:solidFill>
                  <a:srgbClr val="FFFFFF"/>
                </a:solidFill>
                <a:latin typeface="Calibri"/>
              </a:defRPr>
            </a:pPr>
            <a:r>
              <a:t>Marsh Strategic Advantage &amp; Brokerage Scale</a:t>
            </a:r>
          </a:p>
        </p:txBody>
      </p:sp>
      <p:sp>
        <p:nvSpPr>
          <p:cNvPr id="6" name="TextBox 5"/>
          <p:cNvSpPr txBox="1"/>
          <p:nvPr/>
        </p:nvSpPr>
        <p:spPr>
          <a:xfrm>
            <a:off x="9601200" y="228600"/>
            <a:ext cx="1828800" cy="457200"/>
          </a:xfrm>
          <a:prstGeom prst="rect">
            <a:avLst/>
          </a:prstGeom>
          <a:noFill/>
        </p:spPr>
        <p:txBody>
          <a:bodyPr wrap="none">
            <a:spAutoFit/>
          </a:bodyPr>
          <a:lstStyle/>
          <a:p>
            <a:pPr algn="r">
              <a:defRPr sz="1100" b="1">
                <a:solidFill>
                  <a:srgbClr val="00A3E0"/>
                </a:solidFill>
                <a:latin typeface="Calibri"/>
              </a:defRPr>
            </a:pPr>
            <a:r>
              <a:t>MARSH ADVISORY</a:t>
            </a:r>
          </a:p>
        </p:txBody>
      </p:sp>
      <p:sp>
        <p:nvSpPr>
          <p:cNvPr id="7" name="Rounded Rectangle 6"/>
          <p:cNvSpPr/>
          <p:nvPr/>
        </p:nvSpPr>
        <p:spPr>
          <a:xfrm>
            <a:off x="731520" y="1371600"/>
            <a:ext cx="4754880" cy="475488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45920"/>
            <a:ext cx="4206240" cy="4114800"/>
          </a:xfrm>
          <a:prstGeom prst="rect">
            <a:avLst/>
          </a:prstGeom>
          <a:noFill/>
        </p:spPr>
        <p:txBody>
          <a:bodyPr wrap="square" lIns="0" tIns="0">
            <a:spAutoFit/>
          </a:bodyPr>
          <a:lstStyle/>
          <a:p>
            <a:pPr>
              <a:spcAft>
                <a:spcPts val="1400"/>
              </a:spcAft>
              <a:defRPr sz="1400" b="1">
                <a:solidFill>
                  <a:srgbClr val="00205B"/>
                </a:solidFill>
                <a:latin typeface="Calibri"/>
              </a:defRPr>
            </a:pPr>
            <a:r>
              <a:t>COMPANY OVERVIEW</a:t>
            </a:r>
          </a:p>
          <a:p>
            <a:pPr>
              <a:spcAft>
                <a:spcPts val="1200"/>
              </a:spcAft>
              <a:defRPr sz="1300">
                <a:solidFill>
                  <a:srgbClr val="00205B"/>
                </a:solidFill>
                <a:latin typeface="Calibri"/>
              </a:defRPr>
            </a:pPr>
            <a:r>
              <a:t>•  **Enterprise Placement Volume:** Marsh has underwritten &gt;₹12 trillion in corporate health solutions across 3,800 global clients, delivering economies of scale that compress premium by up to 12% for large‑employee blocks.</a:t>
            </a:r>
          </a:p>
          <a:p>
            <a:pPr>
              <a:spcAft>
                <a:spcPts val="1200"/>
              </a:spcAft>
              <a:defRPr sz="1300">
                <a:solidFill>
                  <a:srgbClr val="00205B"/>
                </a:solidFill>
                <a:latin typeface="Calibri"/>
              </a:defRPr>
            </a:pPr>
            <a:r>
              <a:t>•  **Claims Settlement Efficiency:** 98% of corporate health claims settled within 7 business days, leveraging our proprietary claims‑advocacy portal that reduces administrative lag and improves employee satisfaction scores by 15 pts.</a:t>
            </a:r>
          </a:p>
        </p:txBody>
      </p:sp>
      <p:sp>
        <p:nvSpPr>
          <p:cNvPr id="9" name="Rounded Rectangle 8"/>
          <p:cNvSpPr/>
          <p:nvPr/>
        </p:nvSpPr>
        <p:spPr>
          <a:xfrm>
            <a:off x="1005840" y="5212080"/>
            <a:ext cx="4206240" cy="594360"/>
          </a:xfrm>
          <a:prstGeom prst="round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Target Client: Tata Consultancy Services</a:t>
            </a:r>
          </a:p>
        </p:txBody>
      </p:sp>
      <p:sp>
        <p:nvSpPr>
          <p:cNvPr id="10" name="TextBox 9"/>
          <p:cNvSpPr txBox="1"/>
          <p:nvPr/>
        </p:nvSpPr>
        <p:spPr>
          <a:xfrm>
            <a:off x="5943600" y="1280160"/>
            <a:ext cx="5486400" cy="457200"/>
          </a:xfrm>
          <a:prstGeom prst="rect">
            <a:avLst/>
          </a:prstGeom>
          <a:noFill/>
        </p:spPr>
        <p:txBody>
          <a:bodyPr wrap="none">
            <a:spAutoFit/>
          </a:bodyPr>
          <a:lstStyle/>
          <a:p>
            <a:pPr>
              <a:defRPr sz="1400" b="1">
                <a:solidFill>
                  <a:srgbClr val="00205B"/>
                </a:solidFill>
                <a:latin typeface="Calibri"/>
              </a:defRPr>
            </a:pPr>
            <a:r>
              <a:t>KEY OCCUPATIONAL EXPOSURES</a:t>
            </a:r>
          </a:p>
        </p:txBody>
      </p:sp>
      <p:sp>
        <p:nvSpPr>
          <p:cNvPr id="11" name="Rounded Rectangle 10"/>
          <p:cNvSpPr/>
          <p:nvPr/>
        </p:nvSpPr>
        <p:spPr>
          <a:xfrm>
            <a:off x="5943600" y="1828800"/>
            <a:ext cx="5486400" cy="960120"/>
          </a:xfrm>
          <a:prstGeom prst="roundRect">
            <a:avLst/>
          </a:prstGeom>
          <a:solidFill>
            <a:srgbClr val="F1F5F9"/>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35040" y="1965960"/>
            <a:ext cx="109728" cy="685800"/>
          </a:xfrm>
          <a:prstGeom prst="round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901952"/>
            <a:ext cx="5029200" cy="813816"/>
          </a:xfrm>
          <a:prstGeom prst="rect">
            <a:avLst/>
          </a:prstGeom>
          <a:noFill/>
        </p:spPr>
        <p:txBody>
          <a:bodyPr wrap="square" lIns="45720" rIns="45720">
            <a:spAutoFit/>
          </a:bodyPr>
          <a:lstStyle/>
          <a:p>
            <a:pPr>
              <a:defRPr sz="1200">
                <a:solidFill>
                  <a:srgbClr val="00205B"/>
                </a:solidFill>
                <a:latin typeface="Calibri"/>
              </a:defRPr>
            </a:pPr>
            <a:r>
              <a:t>**Dedicated Broker‑Claims Advocacy:** Each TCS employee group assigned a senior broker‑claims liaison, providing end‑to‑end support from pre‑authorization to post‑hospitalisation follow‑up, cutting out‑of‑pocket disputes by 22%.</a:t>
            </a:r>
          </a:p>
        </p:txBody>
      </p:sp>
      <p:sp>
        <p:nvSpPr>
          <p:cNvPr id="14" name="Rounded Rectangle 13"/>
          <p:cNvSpPr/>
          <p:nvPr/>
        </p:nvSpPr>
        <p:spPr>
          <a:xfrm>
            <a:off x="5943600" y="2935224"/>
            <a:ext cx="5486400" cy="960120"/>
          </a:xfrm>
          <a:prstGeom prst="roundRect">
            <a:avLst/>
          </a:prstGeom>
          <a:solidFill>
            <a:srgbClr val="F1F5F9"/>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35040" y="3072384"/>
            <a:ext cx="109728" cy="685800"/>
          </a:xfrm>
          <a:prstGeom prst="round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3008376"/>
            <a:ext cx="5029200" cy="813816"/>
          </a:xfrm>
          <a:prstGeom prst="rect">
            <a:avLst/>
          </a:prstGeom>
          <a:noFill/>
        </p:spPr>
        <p:txBody>
          <a:bodyPr wrap="square" lIns="45720" rIns="45720">
            <a:spAutoFit/>
          </a:bodyPr>
          <a:lstStyle/>
          <a:p>
            <a:pPr>
              <a:defRPr sz="1200">
                <a:solidFill>
                  <a:srgbClr val="00205B"/>
                </a:solidFill>
                <a:latin typeface="Calibri"/>
              </a:defRPr>
            </a:pPr>
            <a:r>
              <a:t>**Corporate Wellness Analytics Platform:** Our real‑time health‑insight dashboard aggregates OPD utilization, chronic‑care trends, and absenteeism, enabling predictive interventions that have lowered aggregate claim frequency by 9% for similar IT clients.</a:t>
            </a:r>
          </a:p>
        </p:txBody>
      </p:sp>
      <p:sp>
        <p:nvSpPr>
          <p:cNvPr id="17" name="Rounded Rectangle 16"/>
          <p:cNvSpPr/>
          <p:nvPr/>
        </p:nvSpPr>
        <p:spPr>
          <a:xfrm>
            <a:off x="5943600" y="4041648"/>
            <a:ext cx="5486400" cy="960120"/>
          </a:xfrm>
          <a:prstGeom prst="roundRect">
            <a:avLst/>
          </a:prstGeom>
          <a:solidFill>
            <a:srgbClr val="F1F5F9"/>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35040" y="4178808"/>
            <a:ext cx="109728" cy="685800"/>
          </a:xfrm>
          <a:prstGeom prst="round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4114800"/>
            <a:ext cx="5029200" cy="813816"/>
          </a:xfrm>
          <a:prstGeom prst="rect">
            <a:avLst/>
          </a:prstGeom>
          <a:noFill/>
        </p:spPr>
        <p:txBody>
          <a:bodyPr wrap="square" lIns="45720" rIns="45720">
            <a:spAutoFit/>
          </a:bodyPr>
          <a:lstStyle/>
          <a:p>
            <a:pPr>
              <a:defRPr sz="1200">
                <a:solidFill>
                  <a:srgbClr val="00205B"/>
                </a:solidFill>
                <a:latin typeface="Calibri"/>
              </a:defRPr>
            </a:pPr>
            <a:r>
              <a:t>**Custom Policy Drafting Engine:** Marsh engineers policy wordings—such as day‑one pre‑existing disease waivers and unlimited tele‑consult caps—aligned with TCS’s risk profile, ensuring regulatory compliance while maximizing benefit uptake.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88952" cy="50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
            <a:ext cx="9601200" cy="640080"/>
          </a:xfrm>
          <a:prstGeom prst="rect">
            <a:avLst/>
          </a:prstGeom>
          <a:noFill/>
        </p:spPr>
        <p:txBody>
          <a:bodyPr wrap="square" lIns="0" tIns="0">
            <a:spAutoFit/>
          </a:bodyPr>
          <a:lstStyle/>
          <a:p>
            <a:pPr>
              <a:defRPr sz="2800" b="1">
                <a:solidFill>
                  <a:srgbClr val="FFFFFF"/>
                </a:solidFill>
                <a:latin typeface="Calibri"/>
              </a:defRPr>
            </a:pPr>
            <a:r>
              <a:t>Strategic Policy Mapping: Tailored Policy Provisions</a:t>
            </a:r>
          </a:p>
        </p:txBody>
      </p:sp>
      <p:sp>
        <p:nvSpPr>
          <p:cNvPr id="6" name="TextBox 5"/>
          <p:cNvSpPr txBox="1"/>
          <p:nvPr/>
        </p:nvSpPr>
        <p:spPr>
          <a:xfrm>
            <a:off x="9601200" y="228600"/>
            <a:ext cx="1828800" cy="457200"/>
          </a:xfrm>
          <a:prstGeom prst="rect">
            <a:avLst/>
          </a:prstGeom>
          <a:noFill/>
        </p:spPr>
        <p:txBody>
          <a:bodyPr wrap="none">
            <a:spAutoFit/>
          </a:bodyPr>
          <a:lstStyle/>
          <a:p>
            <a:pPr algn="r">
              <a:defRPr sz="1100" b="1">
                <a:solidFill>
                  <a:srgbClr val="00A3E0"/>
                </a:solidFill>
                <a:latin typeface="Calibri"/>
              </a:defRPr>
            </a:pPr>
            <a:r>
              <a:t>MARSH ADVISORY</a:t>
            </a:r>
          </a:p>
        </p:txBody>
      </p:sp>
      <p:sp>
        <p:nvSpPr>
          <p:cNvPr id="7" name="TextBox 6"/>
          <p:cNvSpPr txBox="1"/>
          <p:nvPr/>
        </p:nvSpPr>
        <p:spPr>
          <a:xfrm>
            <a:off x="731520" y="1188720"/>
            <a:ext cx="4572000" cy="365760"/>
          </a:xfrm>
          <a:prstGeom prst="rect">
            <a:avLst/>
          </a:prstGeom>
          <a:noFill/>
        </p:spPr>
        <p:txBody>
          <a:bodyPr wrap="none">
            <a:spAutoFit/>
          </a:bodyPr>
          <a:lstStyle/>
          <a:p>
            <a:pPr>
              <a:defRPr sz="1400" b="1">
                <a:solidFill>
                  <a:srgbClr val="475569"/>
                </a:solidFill>
                <a:latin typeface="Calibri"/>
              </a:defRPr>
            </a:pPr>
            <a:r>
              <a:t>IDENTIFIED EXPOSURES</a:t>
            </a:r>
          </a:p>
        </p:txBody>
      </p:sp>
      <p:sp>
        <p:nvSpPr>
          <p:cNvPr id="8" name="TextBox 7"/>
          <p:cNvSpPr txBox="1"/>
          <p:nvPr/>
        </p:nvSpPr>
        <p:spPr>
          <a:xfrm>
            <a:off x="6858000" y="1188720"/>
            <a:ext cx="4572000" cy="365760"/>
          </a:xfrm>
          <a:prstGeom prst="rect">
            <a:avLst/>
          </a:prstGeom>
          <a:noFill/>
        </p:spPr>
        <p:txBody>
          <a:bodyPr wrap="none">
            <a:spAutoFit/>
          </a:bodyPr>
          <a:lstStyle/>
          <a:p>
            <a:pPr>
              <a:defRPr sz="1400" b="1">
                <a:solidFill>
                  <a:srgbClr val="00A3E0"/>
                </a:solidFill>
                <a:latin typeface="Calibri"/>
              </a:defRPr>
            </a:pPr>
            <a:r>
              <a:t>MARSH POLICY SOLUTIONS</a:t>
            </a:r>
          </a:p>
        </p:txBody>
      </p:sp>
      <p:sp>
        <p:nvSpPr>
          <p:cNvPr id="9" name="Right Arrow 8"/>
          <p:cNvSpPr/>
          <p:nvPr/>
        </p:nvSpPr>
        <p:spPr>
          <a:xfrm>
            <a:off x="5532120" y="2926080"/>
            <a:ext cx="1097280" cy="914400"/>
          </a:xfrm>
          <a:prstGeom prst="rightArrow">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645920"/>
            <a:ext cx="4480560" cy="448056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28800"/>
            <a:ext cx="4114800" cy="4114800"/>
          </a:xfrm>
          <a:prstGeom prst="rect">
            <a:avLst/>
          </a:prstGeom>
          <a:noFill/>
        </p:spPr>
        <p:txBody>
          <a:bodyPr wrap="square" tIns="91440" bIns="91440">
            <a:spAutoFit/>
          </a:bodyPr>
          <a:lstStyle/>
          <a:p>
            <a:pPr>
              <a:spcAft>
                <a:spcPts val="1200"/>
              </a:spcAft>
              <a:defRPr sz="1200">
                <a:solidFill>
                  <a:srgbClr val="00205B"/>
                </a:solidFill>
                <a:latin typeface="Calibri"/>
              </a:defRPr>
            </a:pPr>
            <a:r>
              <a:t>•   **OPD &amp; Diagnostic Integration:** HDFC Optima Wellbeing add‑on provides ₹5 L to ₹200 L OPD limits, includes e‑Opinion for 51 critical illnesses, and unlimited tele‑consultations, directly addressing TCS’s high screen‑time eye‑strain and chronic disease monitoring needs.</a:t>
            </a:r>
          </a:p>
          <a:p>
            <a:pPr>
              <a:spcAft>
                <a:spcPts val="1200"/>
              </a:spcAft>
              <a:defRPr sz="1200">
                <a:solidFill>
                  <a:srgbClr val="00205B"/>
                </a:solidFill>
                <a:latin typeface="Calibri"/>
              </a:defRPr>
            </a:pPr>
            <a:r>
              <a:t>•   **Chronic Care Continuity (ABCD Chronic Care):** Hospitalisation expenses for asthma, hypertension, cholesterol, and diabetes covered from day 31 onward, mitigating long‑term cost of lifestyle diseases prevalent in a sedentary IT workforce.</a:t>
            </a:r>
          </a:p>
        </p:txBody>
      </p:sp>
      <p:sp>
        <p:nvSpPr>
          <p:cNvPr id="12" name="Rounded Rectangle 11"/>
          <p:cNvSpPr/>
          <p:nvPr/>
        </p:nvSpPr>
        <p:spPr>
          <a:xfrm>
            <a:off x="6858000" y="1645920"/>
            <a:ext cx="4572000" cy="4480560"/>
          </a:xfrm>
          <a:prstGeom prst="roundRect">
            <a:avLst/>
          </a:prstGeom>
          <a:solidFill>
            <a:srgbClr val="F1F5F9"/>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0" y="1828800"/>
            <a:ext cx="4206240" cy="4114800"/>
          </a:xfrm>
          <a:prstGeom prst="rect">
            <a:avLst/>
          </a:prstGeom>
          <a:noFill/>
        </p:spPr>
        <p:txBody>
          <a:bodyPr wrap="square" tIns="91440" bIns="91440">
            <a:spAutoFit/>
          </a:bodyPr>
          <a:lstStyle/>
          <a:p>
            <a:pPr>
              <a:spcAft>
                <a:spcPts val="1200"/>
              </a:spcAft>
              <a:defRPr sz="1200">
                <a:solidFill>
                  <a:srgbClr val="00205B"/>
                </a:solidFill>
                <a:latin typeface="Calibri"/>
              </a:defRPr>
            </a:pPr>
            <a:r>
              <a:t>✔   **AYUSH &amp; Alternative Therapy Coverage:** Optima Secure+ extends in‑patient reimbursement to Ayurveda, Yoga, Naturopathy, Unani, Siddha, and Homeopathy up to the full sum insured, supporting employee preference for holistic wellness programs.</a:t>
            </a:r>
          </a:p>
          <a:p>
            <a:pPr>
              <a:spcAft>
                <a:spcPts val="1200"/>
              </a:spcAft>
              <a:defRPr sz="1200">
                <a:solidFill>
                  <a:srgbClr val="00205B"/>
                </a:solidFill>
                <a:latin typeface="Calibri"/>
              </a:defRPr>
            </a:pPr>
            <a:r>
              <a:t>✔   **Critical Illness Lump‑Sum (my: health):** Immediate lump‑sum payout on diagnosis of any listed critical illness, with sum insured options ranging from ₹5 L to ₹200 L, providing financial protection for high‑impact events like cancer or cardiac arrest.</a:t>
            </a:r>
          </a:p>
          <a:p>
            <a:pPr>
              <a:spcAft>
                <a:spcPts val="1200"/>
              </a:spcAft>
              <a:defRPr sz="1200">
                <a:solidFill>
                  <a:srgbClr val="00205B"/>
                </a:solidFill>
                <a:latin typeface="Calibri"/>
              </a:defRPr>
            </a:pPr>
            <a:r>
              <a:t>✔   **In‑Patient &amp; Day‑Care Cashless Network:** Hospitalisation benefits cover room rent, ICU, surgeon fees, ambulance, and day‑care treatments under cashless arrangement with HDFC’s extensive network, ensuring seamless care during infectious disease outbreaks.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88952" cy="50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
            <a:ext cx="9601200" cy="640080"/>
          </a:xfrm>
          <a:prstGeom prst="rect">
            <a:avLst/>
          </a:prstGeom>
          <a:noFill/>
        </p:spPr>
        <p:txBody>
          <a:bodyPr wrap="square" lIns="0" tIns="0">
            <a:spAutoFit/>
          </a:bodyPr>
          <a:lstStyle/>
          <a:p>
            <a:pPr>
              <a:defRPr sz="2800" b="1">
                <a:solidFill>
                  <a:srgbClr val="FFFFFF"/>
                </a:solidFill>
                <a:latin typeface="Calibri"/>
              </a:defRPr>
            </a:pPr>
            <a:r>
              <a:t>Recommended Placement &amp; Implementation Roadmap</a:t>
            </a:r>
          </a:p>
        </p:txBody>
      </p:sp>
      <p:sp>
        <p:nvSpPr>
          <p:cNvPr id="6" name="TextBox 5"/>
          <p:cNvSpPr txBox="1"/>
          <p:nvPr/>
        </p:nvSpPr>
        <p:spPr>
          <a:xfrm>
            <a:off x="9601200" y="228600"/>
            <a:ext cx="1828800" cy="457200"/>
          </a:xfrm>
          <a:prstGeom prst="rect">
            <a:avLst/>
          </a:prstGeom>
          <a:noFill/>
        </p:spPr>
        <p:txBody>
          <a:bodyPr wrap="none">
            <a:spAutoFit/>
          </a:bodyPr>
          <a:lstStyle/>
          <a:p>
            <a:pPr algn="r">
              <a:defRPr sz="1100" b="1">
                <a:solidFill>
                  <a:srgbClr val="00A3E0"/>
                </a:solidFill>
                <a:latin typeface="Calibri"/>
              </a:defRPr>
            </a:pPr>
            <a:r>
              <a:t>MARSH ADVISORY</a:t>
            </a:r>
          </a:p>
        </p:txBody>
      </p:sp>
      <p:sp>
        <p:nvSpPr>
          <p:cNvPr id="7" name="Rounded Rectangle 6"/>
          <p:cNvSpPr/>
          <p:nvPr/>
        </p:nvSpPr>
        <p:spPr>
          <a:xfrm>
            <a:off x="731520" y="1280160"/>
            <a:ext cx="10725912" cy="3108960"/>
          </a:xfrm>
          <a:prstGeom prst="roundRect">
            <a:avLst/>
          </a:prstGeom>
          <a:solidFill>
            <a:srgbClr val="E0F4FC"/>
          </a:solidFill>
          <a:ln w="19050">
            <a:solidFill>
              <a:srgbClr val="002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417320"/>
            <a:ext cx="10149840" cy="2834640"/>
          </a:xfrm>
          <a:prstGeom prst="rect">
            <a:avLst/>
          </a:prstGeom>
          <a:noFill/>
        </p:spPr>
        <p:txBody>
          <a:bodyPr wrap="square" tIns="91440" bIns="91440">
            <a:spAutoFit/>
          </a:bodyPr>
          <a:lstStyle/>
          <a:p>
            <a:pPr>
              <a:spcAft>
                <a:spcPts val="800"/>
              </a:spcAft>
              <a:defRPr sz="1500" b="1">
                <a:solidFill>
                  <a:srgbClr val="00205B"/>
                </a:solidFill>
                <a:latin typeface="Calibri"/>
              </a:defRPr>
            </a:pPr>
            <a:r>
              <a:t>RECOMMENDED POLICY PLACEMENT: Recommended Insurer Placement &amp; Phased Execution Roadmap</a:t>
            </a:r>
          </a:p>
          <a:p>
            <a:pPr>
              <a:spcAft>
                <a:spcPts val="600"/>
              </a:spcAft>
              <a:defRPr sz="1200">
                <a:solidFill>
                  <a:srgbClr val="00205B"/>
                </a:solidFill>
                <a:latin typeface="Calibri"/>
              </a:defRPr>
            </a:pPr>
            <a:r>
              <a:t>•  **Primary Insurer – HDFC Optima Secure+ (Optima Wellbeing Add‑On):** Offers ₹5 L‑₹200 L OPD limits, day‑one coverage for AYUSH, 30‑day initial waiting period for OPD, and cashless network of 12,000 hospitals, matching TCS’s scale and benefit preferences.</a:t>
            </a:r>
          </a:p>
          <a:p>
            <a:pPr>
              <a:spcAft>
                <a:spcPts val="600"/>
              </a:spcAft>
              <a:defRPr sz="1200">
                <a:solidFill>
                  <a:srgbClr val="00205B"/>
                </a:solidFill>
                <a:latin typeface="Calibri"/>
              </a:defRPr>
            </a:pPr>
            <a:r>
              <a:t>•  **Supplementary Executive Tier – Niva Bupa ReAssure 2.0 Platinum:** Provides up to ₹100 L in‑patient care, 60‑day pre‑hospitalisation and 180‑day post‑hospitalisation coverage, and full AYUSH inclusion, ideal for senior leadership with higher sum‑insured needs.</a:t>
            </a:r>
          </a:p>
          <a:p>
            <a:pPr>
              <a:spcAft>
                <a:spcPts val="600"/>
              </a:spcAft>
              <a:defRPr sz="1200">
                <a:solidFill>
                  <a:srgbClr val="00205B"/>
                </a:solidFill>
                <a:latin typeface="Calibri"/>
              </a:defRPr>
            </a:pPr>
            <a:r>
              <a:t>•  **Phase 1 – Pilot (Quarter 1 2027):** Deploy Optima Wellbeing to 150,000 high‑risk employees (back‑end office), activate tele‑consult caps, and launch wellness analytics dashboard; target 85% enrollment within 45 days.</a:t>
            </a:r>
          </a:p>
          <a:p>
            <a:pPr>
              <a:spcAft>
                <a:spcPts val="600"/>
              </a:spcAft>
              <a:defRPr sz="1200">
                <a:solidFill>
                  <a:srgbClr val="00205B"/>
                </a:solidFill>
                <a:latin typeface="Calibri"/>
              </a:defRPr>
            </a:pPr>
            <a:r>
              <a:t>•  **Phase 2 – Scale (Quarter 2‑3 2027):** Extend coverage to remaining 1.34 M staff, integrate Niva Bupa executive tier for 5,000 senior managers, and embed automated sum‑insured restoration (auto‑recharge) for claim‑free periods.</a:t>
            </a:r>
          </a:p>
          <a:p>
            <a:pPr>
              <a:spcAft>
                <a:spcPts val="600"/>
              </a:spcAft>
              <a:defRPr sz="1200">
                <a:solidFill>
                  <a:srgbClr val="00205B"/>
                </a:solidFill>
                <a:latin typeface="Calibri"/>
              </a:defRPr>
            </a:pPr>
            <a:r>
              <a:t>•  **Phase 3 – Optimization (Quarter 4 2027‑2028):** Conduct utilization review, adjust OPD limits based on claim frequency, introduce targeted ergonomic injury prevention programs, and renegotiate premium based on realized loss‑ratio improvements.</a:t>
            </a:r>
          </a:p>
        </p:txBody>
      </p:sp>
      <p:sp>
        <p:nvSpPr>
          <p:cNvPr id="9" name="TextBox 8"/>
          <p:cNvSpPr txBox="1"/>
          <p:nvPr/>
        </p:nvSpPr>
        <p:spPr>
          <a:xfrm>
            <a:off x="731520" y="4572000"/>
            <a:ext cx="10725912" cy="365760"/>
          </a:xfrm>
          <a:prstGeom prst="rect">
            <a:avLst/>
          </a:prstGeom>
          <a:noFill/>
        </p:spPr>
        <p:txBody>
          <a:bodyPr wrap="none">
            <a:spAutoFit/>
          </a:bodyPr>
          <a:lstStyle/>
          <a:p>
            <a:pPr>
              <a:defRPr sz="1300" b="1">
                <a:solidFill>
                  <a:srgbClr val="475569"/>
                </a:solidFill>
                <a:latin typeface="Calibri"/>
              </a:defRPr>
            </a:pPr>
            <a:r>
              <a:t>IMPLEMENTATION ROADMAP</a:t>
            </a:r>
          </a:p>
        </p:txBody>
      </p:sp>
      <p:sp>
        <p:nvSpPr>
          <p:cNvPr id="10" name="Chevron 9"/>
          <p:cNvSpPr/>
          <p:nvPr/>
        </p:nvSpPr>
        <p:spPr>
          <a:xfrm>
            <a:off x="731520" y="5029200"/>
            <a:ext cx="3383280" cy="1005840"/>
          </a:xfrm>
          <a:prstGeom prst="chevron">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00" b="1">
                <a:solidFill>
                  <a:srgbClr val="FFFFFF"/>
                </a:solidFill>
                <a:latin typeface="Calibri"/>
              </a:defRPr>
            </a:pPr>
            <a:r>
              <a:t>1. Needs Analysis</a:t>
            </a:r>
          </a:p>
        </p:txBody>
      </p:sp>
      <p:sp>
        <p:nvSpPr>
          <p:cNvPr id="11" name="Chevron 10"/>
          <p:cNvSpPr/>
          <p:nvPr/>
        </p:nvSpPr>
        <p:spPr>
          <a:xfrm>
            <a:off x="4389120" y="5029200"/>
            <a:ext cx="3383280" cy="1005840"/>
          </a:xfrm>
          <a:prstGeom prst="chevron">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00" b="1">
                <a:solidFill>
                  <a:srgbClr val="FFFFFF"/>
                </a:solidFill>
                <a:latin typeface="Calibri"/>
              </a:defRPr>
            </a:pPr>
            <a:r>
              <a:t>2. Market Placement</a:t>
            </a:r>
          </a:p>
        </p:txBody>
      </p:sp>
      <p:sp>
        <p:nvSpPr>
          <p:cNvPr id="12" name="Chevron 11"/>
          <p:cNvSpPr/>
          <p:nvPr/>
        </p:nvSpPr>
        <p:spPr>
          <a:xfrm>
            <a:off x="8046720" y="5029200"/>
            <a:ext cx="3383280" cy="1005840"/>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00" b="1">
                <a:solidFill>
                  <a:srgbClr val="FFFFFF"/>
                </a:solidFill>
                <a:latin typeface="Calibri"/>
              </a:defRPr>
            </a:pPr>
            <a:r>
              <a:t>3. Policy Binding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