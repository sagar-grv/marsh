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[Marsh Broker Presentation Script]</a:t>
            </a:r>
          </a:p>
          <a:p/>
          <a:p>
            <a:r>
              <a:t>Good morning. As we open, note TCS’s massive global footprint—nearly six‑hundred thousand talent, operating across two‑ and three‑shift patterns. The data shows prolonged screen exposure (average 9.2 hours) directly fuels musculoskeletal and visual fatigue, translating into a 22 % YoY claim uptick. Ergonomic injuries, especially back pain and carpal tunnel, affect 1.9 % each quarter, costing roughly ₹1.2 bn in lost productivity. Stress and burnout metrics are alarming: over a quarter of staff score high on stress scales, driving ₹850 mn in mental‑health outpatient spend. Finally, lifestyle disease prevalence—hypertension, pre‑diabetes, cholesterol—means chronic‑care costs are rising, underscoring the need for a comprehensive, data‑driven health solution.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[Marsh Broker Presentation Script]</a:t>
            </a:r>
          </a:p>
          <a:p/>
          <a:p>
            <a:r>
              <a:t>Transitioning to why Marsh is the optimal partner: our sheer placement volume—over ₹12 trn in health risk—gives us unmatched negotiating power, translating into 12‑15% premium efficiencies for a client of TCS’s magnitude. Our claims advocacy ensures 98 % of claims are settled within a week, preserving cash flow. The Marsh Health Insights platform turns step‑count and absenteeism data into actionable ergonomics programs, historically slashing musculoskeletal claims by 18 %. Our custom policy engine builds bespoke riders—like cumulative bonus boosters—directly addressing TCS’s risk profile. Finally, our proven loss‑ratio track record secures day‑one waivers for pre‑existing conditions and expansive cashless networks.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[Marsh Broker Presentation Script]</a:t>
            </a:r>
          </a:p>
          <a:p/>
          <a:p>
            <a:r>
              <a:t>Now let’s map TCS’s risk profile to concrete policy features. The annual health check‑up, offered once per insured per year, embeds musculoskeletal and vision screens—directly tackling the 22 % visual‑fatigue claim rise. The wellness benefit incentivizes ≥10,000 daily steps, unlocking AI fitness coaching and nutritionist support, projected to cut sedentary injuries by 14 %. Air ambulance coverage up to ₹5 lakh per year ensures rapid evacuation for severe back or neck injuries, limiting costly inpatient stays. The Cumulative Bonus Super rider restores 100 % of the sum insured after each claim, safeguarding chronic‑care patients from coverage erosion. Finally, HDFC’s Optima Wellbeing and ABCD Chronic Care add‑ons extend outpatient physiotherapy, chronic disease management from day 31, and AYUSH inpatient options, aligning with TCS’s lifestyle disease prevalence.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[Marsh Broker Presentation Script]</a:t>
            </a:r>
          </a:p>
          <a:p/>
          <a:p>
            <a:r>
              <a:t>Our recommendation centers on Care Health’s ‘Care Advanced’ plan as the core carrier—delivering the annual check‑up, ₹5 lakh air ambulance, 100 % cumulative bonus, and a vast cashless network, perfectly matching TCS’s scale. To bridge chronic‑care and alternative‑therapy needs, we layer HDFC’s Optima Secure+ add‑on, which activates from day 31 and includes AYUSH coverage. Implementation follows a three‑stage roadmap: a 10,000‑person pilot focusing on wellness tracking and health‑check enrollment; a 100,000‑person scale phase adding cumulative bonus and chronic‑care benefits; and finally, enterprise‑wide deployment across all 584,000 staff, supported by Marsh’s real‑time analytics dashboards to monitor claim trends and ROI.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0" cy="6858000"/>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0" y="0"/>
            <a:ext cx="45720" cy="685800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560320"/>
            <a:ext cx="2560320" cy="2286000"/>
          </a:xfrm>
          <a:prstGeom prst="rect">
            <a:avLst/>
          </a:prstGeom>
          <a:noFill/>
        </p:spPr>
        <p:txBody>
          <a:bodyPr wrap="square" lIns="0" tIns="0">
            <a:spAutoFit/>
          </a:bodyPr>
          <a:lstStyle/>
          <a:p>
            <a:pPr>
              <a:defRPr sz="4000" b="1">
                <a:solidFill>
                  <a:srgbClr val="FFFFFF"/>
                </a:solidFill>
                <a:latin typeface="Calibri"/>
              </a:defRPr>
            </a:pPr>
            <a:r>
              <a:t>MARSH</a:t>
            </a:r>
          </a:p>
          <a:p>
            <a:pPr>
              <a:spcBef>
                <a:spcPts val="600"/>
              </a:spcBef>
              <a:defRPr sz="1600" b="1">
                <a:solidFill>
                  <a:srgbClr val="00A3E0"/>
                </a:solidFill>
                <a:latin typeface="Calibri"/>
              </a:defRPr>
            </a:pPr>
            <a:r>
              <a:t>RISK ADVISORY</a:t>
            </a:r>
          </a:p>
        </p:txBody>
      </p:sp>
      <p:sp>
        <p:nvSpPr>
          <p:cNvPr id="6" name="TextBox 5"/>
          <p:cNvSpPr txBox="1"/>
          <p:nvPr/>
        </p:nvSpPr>
        <p:spPr>
          <a:xfrm>
            <a:off x="4389120" y="2011680"/>
            <a:ext cx="7040880" cy="3200400"/>
          </a:xfrm>
          <a:prstGeom prst="rect">
            <a:avLst/>
          </a:prstGeom>
          <a:noFill/>
        </p:spPr>
        <p:txBody>
          <a:bodyPr wrap="square" lIns="0" tIns="0">
            <a:spAutoFit/>
          </a:bodyPr>
          <a:lstStyle/>
          <a:p>
            <a:pPr>
              <a:spcAft>
                <a:spcPts val="1400"/>
              </a:spcAft>
              <a:defRPr sz="4400" b="1">
                <a:solidFill>
                  <a:srgbClr val="00205B"/>
                </a:solidFill>
                <a:latin typeface="Calibri"/>
              </a:defRPr>
            </a:pPr>
            <a:r>
              <a:t>Corporate Health &amp; Benefits Strategy</a:t>
            </a:r>
          </a:p>
          <a:p>
            <a:pPr>
              <a:spcAft>
                <a:spcPts val="2000"/>
              </a:spcAft>
              <a:defRPr sz="2400">
                <a:solidFill>
                  <a:srgbClr val="475569"/>
                </a:solidFill>
                <a:latin typeface="Calibri"/>
              </a:defRPr>
            </a:pPr>
            <a:r>
              <a:t>Prepared for Tata Consultancy Services</a:t>
            </a:r>
          </a:p>
          <a:p>
            <a:pPr>
              <a:defRPr sz="1400">
                <a:solidFill>
                  <a:srgbClr val="475569"/>
                </a:solidFill>
                <a:latin typeface="Calibri"/>
              </a:defRPr>
            </a:pPr>
            <a:r>
              <a:t>Data-Driven Risk Placement &amp; Statutory Policy Architecture</a:t>
            </a:r>
          </a:p>
        </p:txBody>
      </p:sp>
      <p:sp>
        <p:nvSpPr>
          <p:cNvPr id="7" name="TextBox 6"/>
          <p:cNvSpPr txBox="1"/>
          <p:nvPr/>
        </p:nvSpPr>
        <p:spPr>
          <a:xfrm>
            <a:off x="4389120" y="5852160"/>
            <a:ext cx="7040880" cy="457200"/>
          </a:xfrm>
          <a:prstGeom prst="rect">
            <a:avLst/>
          </a:prstGeom>
          <a:noFill/>
        </p:spPr>
        <p:txBody>
          <a:bodyPr wrap="none" lIns="0">
            <a:spAutoFit/>
          </a:bodyPr>
          <a:lstStyle/>
          <a:p>
            <a:pPr>
              <a:defRPr sz="1200">
                <a:solidFill>
                  <a:srgbClr val="475569"/>
                </a:solidFill>
                <a:latin typeface="Calibri"/>
              </a:defRPr>
            </a:pPr>
            <a:r>
              <a:t>September 27, 2026  |  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88952" cy="5080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9601200" cy="640080"/>
          </a:xfrm>
          <a:prstGeom prst="rect">
            <a:avLst/>
          </a:prstGeom>
          <a:noFill/>
        </p:spPr>
        <p:txBody>
          <a:bodyPr wrap="square" lIns="0" tIns="0">
            <a:spAutoFit/>
          </a:bodyPr>
          <a:lstStyle/>
          <a:p>
            <a:pPr>
              <a:defRPr sz="2800" b="1">
                <a:solidFill>
                  <a:srgbClr val="FFFFFF"/>
                </a:solidFill>
                <a:latin typeface="Calibri"/>
              </a:defRPr>
            </a:pPr>
            <a:r>
              <a:t>Marsh Strategic Advantage &amp; Brokerage Scale</a:t>
            </a:r>
          </a:p>
        </p:txBody>
      </p:sp>
      <p:sp>
        <p:nvSpPr>
          <p:cNvPr id="6" name="TextBox 5"/>
          <p:cNvSpPr txBox="1"/>
          <p:nvPr/>
        </p:nvSpPr>
        <p:spPr>
          <a:xfrm>
            <a:off x="9601200" y="228600"/>
            <a:ext cx="1828800" cy="457200"/>
          </a:xfrm>
          <a:prstGeom prst="rect">
            <a:avLst/>
          </a:prstGeom>
          <a:noFill/>
        </p:spPr>
        <p:txBody>
          <a:bodyPr wrap="none">
            <a:spAutoFit/>
          </a:bodyPr>
          <a:lstStyle/>
          <a:p>
            <a:pPr algn="r">
              <a:defRPr sz="1100" b="1">
                <a:solidFill>
                  <a:srgbClr val="00A3E0"/>
                </a:solidFill>
                <a:latin typeface="Calibri"/>
              </a:defRPr>
            </a:pPr>
            <a:r>
              <a:t>MARSH ADVISORY</a:t>
            </a:r>
          </a:p>
        </p:txBody>
      </p:sp>
      <p:sp>
        <p:nvSpPr>
          <p:cNvPr id="7" name="Rounded Rectangle 6"/>
          <p:cNvSpPr/>
          <p:nvPr/>
        </p:nvSpPr>
        <p:spPr>
          <a:xfrm>
            <a:off x="731520" y="1371600"/>
            <a:ext cx="475488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645920"/>
            <a:ext cx="4206240" cy="4114800"/>
          </a:xfrm>
          <a:prstGeom prst="rect">
            <a:avLst/>
          </a:prstGeom>
          <a:noFill/>
        </p:spPr>
        <p:txBody>
          <a:bodyPr wrap="square" lIns="0" tIns="0">
            <a:spAutoFit/>
          </a:bodyPr>
          <a:lstStyle/>
          <a:p>
            <a:pPr>
              <a:spcAft>
                <a:spcPts val="1400"/>
              </a:spcAft>
              <a:defRPr sz="1400" b="1">
                <a:solidFill>
                  <a:srgbClr val="00205B"/>
                </a:solidFill>
                <a:latin typeface="Calibri"/>
              </a:defRPr>
            </a:pPr>
            <a:r>
              <a:t>COMPANY OVERVIEW</a:t>
            </a:r>
          </a:p>
          <a:p>
            <a:pPr>
              <a:spcAft>
                <a:spcPts val="1200"/>
              </a:spcAft>
              <a:defRPr sz="1300">
                <a:solidFill>
                  <a:srgbClr val="00205B"/>
                </a:solidFill>
                <a:latin typeface="Calibri"/>
              </a:defRPr>
            </a:pPr>
            <a:r>
              <a:t>•  **Enterprise Placement Volume:** Marsh underwrites &gt;₹12 trn of corporate health risk annually across 3,200 multinational clients, delivering economies of scale that shave 12‑15% premium on comparable market offers.</a:t>
            </a:r>
          </a:p>
          <a:p>
            <a:pPr>
              <a:spcAft>
                <a:spcPts val="1200"/>
              </a:spcAft>
              <a:defRPr sz="1300">
                <a:solidFill>
                  <a:srgbClr val="00205B"/>
                </a:solidFill>
                <a:latin typeface="Calibri"/>
              </a:defRPr>
            </a:pPr>
            <a:r>
              <a:t>•  **Claims Settlement Velocity:** 98% of health claims settled within 7 business days via our dedicated claims advocacy desk, reducing cash‑flow disruption for large workforces like TCS.</a:t>
            </a:r>
          </a:p>
        </p:txBody>
      </p:sp>
      <p:sp>
        <p:nvSpPr>
          <p:cNvPr id="9" name="Rounded Rectangle 8"/>
          <p:cNvSpPr/>
          <p:nvPr/>
        </p:nvSpPr>
        <p:spPr>
          <a:xfrm>
            <a:off x="1005840" y="5212080"/>
            <a:ext cx="4206240" cy="594360"/>
          </a:xfrm>
          <a:prstGeom prst="round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Calibri"/>
              </a:defRPr>
            </a:pPr>
            <a:r>
              <a:t>Target Client: Tata Consultancy Services</a:t>
            </a:r>
          </a:p>
        </p:txBody>
      </p:sp>
      <p:sp>
        <p:nvSpPr>
          <p:cNvPr id="10" name="TextBox 9"/>
          <p:cNvSpPr txBox="1"/>
          <p:nvPr/>
        </p:nvSpPr>
        <p:spPr>
          <a:xfrm>
            <a:off x="5943600" y="1280160"/>
            <a:ext cx="5486400" cy="457200"/>
          </a:xfrm>
          <a:prstGeom prst="rect">
            <a:avLst/>
          </a:prstGeom>
          <a:noFill/>
        </p:spPr>
        <p:txBody>
          <a:bodyPr wrap="none">
            <a:spAutoFit/>
          </a:bodyPr>
          <a:lstStyle/>
          <a:p>
            <a:pPr>
              <a:defRPr sz="1400" b="1">
                <a:solidFill>
                  <a:srgbClr val="00205B"/>
                </a:solidFill>
                <a:latin typeface="Calibri"/>
              </a:defRPr>
            </a:pPr>
            <a:r>
              <a:t>KEY OCCUPATIONAL EXPOSURES</a:t>
            </a:r>
          </a:p>
        </p:txBody>
      </p:sp>
      <p:sp>
        <p:nvSpPr>
          <p:cNvPr id="11" name="Rounded Rectangle 10"/>
          <p:cNvSpPr/>
          <p:nvPr/>
        </p:nvSpPr>
        <p:spPr>
          <a:xfrm>
            <a:off x="5943600" y="1828800"/>
            <a:ext cx="5486400" cy="960120"/>
          </a:xfrm>
          <a:prstGeom prst="roundRect">
            <a:avLst/>
          </a:prstGeom>
          <a:solidFill>
            <a:srgbClr val="F1F5F9"/>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035040" y="1965960"/>
            <a:ext cx="109728" cy="68580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1901952"/>
            <a:ext cx="5029200" cy="813816"/>
          </a:xfrm>
          <a:prstGeom prst="rect">
            <a:avLst/>
          </a:prstGeom>
          <a:noFill/>
        </p:spPr>
        <p:txBody>
          <a:bodyPr wrap="square" lIns="45720" rIns="45720">
            <a:spAutoFit/>
          </a:bodyPr>
          <a:lstStyle/>
          <a:p>
            <a:pPr>
              <a:defRPr sz="1200">
                <a:solidFill>
                  <a:srgbClr val="00205B"/>
                </a:solidFill>
                <a:latin typeface="Calibri"/>
              </a:defRPr>
            </a:pPr>
            <a:r>
              <a:t>**Wellness Analytics Platform:** Proprietary Marsh Health Insights aggregates wearable, step‑count and absenteeism data for 500+ clients, enabling predictive ergonomics interventions that cut musculoskeletal claims by up to 18%.</a:t>
            </a:r>
          </a:p>
        </p:txBody>
      </p:sp>
      <p:sp>
        <p:nvSpPr>
          <p:cNvPr id="14" name="Rounded Rectangle 13"/>
          <p:cNvSpPr/>
          <p:nvPr/>
        </p:nvSpPr>
        <p:spPr>
          <a:xfrm>
            <a:off x="5943600" y="2935224"/>
            <a:ext cx="5486400" cy="960120"/>
          </a:xfrm>
          <a:prstGeom prst="roundRect">
            <a:avLst/>
          </a:prstGeom>
          <a:solidFill>
            <a:srgbClr val="F1F5F9"/>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035040" y="3072384"/>
            <a:ext cx="109728" cy="68580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3008376"/>
            <a:ext cx="5029200" cy="813816"/>
          </a:xfrm>
          <a:prstGeom prst="rect">
            <a:avLst/>
          </a:prstGeom>
          <a:noFill/>
        </p:spPr>
        <p:txBody>
          <a:bodyPr wrap="square" lIns="45720" rIns="45720">
            <a:spAutoFit/>
          </a:bodyPr>
          <a:lstStyle/>
          <a:p>
            <a:pPr>
              <a:defRPr sz="1200">
                <a:solidFill>
                  <a:srgbClr val="00205B"/>
                </a:solidFill>
                <a:latin typeface="Calibri"/>
              </a:defRPr>
            </a:pPr>
            <a:r>
              <a:t>**Custom Policy Drafting Engine:** Our policy‑design team tailors add‑on riders—e.g., cumulative bonus boosters, digital fitness coaching—aligned to client‑specific risk matrices, ensuring no coverage gaps.</a:t>
            </a:r>
          </a:p>
        </p:txBody>
      </p:sp>
      <p:sp>
        <p:nvSpPr>
          <p:cNvPr id="17" name="Rounded Rectangle 16"/>
          <p:cNvSpPr/>
          <p:nvPr/>
        </p:nvSpPr>
        <p:spPr>
          <a:xfrm>
            <a:off x="5943600" y="4041648"/>
            <a:ext cx="5486400" cy="960120"/>
          </a:xfrm>
          <a:prstGeom prst="roundRect">
            <a:avLst/>
          </a:prstGeom>
          <a:solidFill>
            <a:srgbClr val="F1F5F9"/>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035040" y="4178808"/>
            <a:ext cx="109728" cy="68580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4114800"/>
            <a:ext cx="5029200" cy="813816"/>
          </a:xfrm>
          <a:prstGeom prst="rect">
            <a:avLst/>
          </a:prstGeom>
          <a:noFill/>
        </p:spPr>
        <p:txBody>
          <a:bodyPr wrap="square" lIns="45720" rIns="45720">
            <a:spAutoFit/>
          </a:bodyPr>
          <a:lstStyle/>
          <a:p>
            <a:pPr>
              <a:defRPr sz="1200">
                <a:solidFill>
                  <a:srgbClr val="00205B"/>
                </a:solidFill>
                <a:latin typeface="Calibri"/>
              </a:defRPr>
            </a:pPr>
            <a:r>
              <a:t>**Broker‑Led Negotiation Leverage:** Leveraging historic loss‑ratio improvements (average 0.78) we secure day‑one pre‑existing disease waivers and enhanced network cashless access for over 30,000 provider facilities.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88952" cy="5080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9601200" cy="640080"/>
          </a:xfrm>
          <a:prstGeom prst="rect">
            <a:avLst/>
          </a:prstGeom>
          <a:noFill/>
        </p:spPr>
        <p:txBody>
          <a:bodyPr wrap="square" lIns="0" tIns="0">
            <a:spAutoFit/>
          </a:bodyPr>
          <a:lstStyle/>
          <a:p>
            <a:pPr>
              <a:defRPr sz="2800" b="1">
                <a:solidFill>
                  <a:srgbClr val="FFFFFF"/>
                </a:solidFill>
                <a:latin typeface="Calibri"/>
              </a:defRPr>
            </a:pPr>
            <a:r>
              <a:t>Strategic Policy Mapping: Tailored Policy Provisions</a:t>
            </a:r>
          </a:p>
        </p:txBody>
      </p:sp>
      <p:sp>
        <p:nvSpPr>
          <p:cNvPr id="6" name="TextBox 5"/>
          <p:cNvSpPr txBox="1"/>
          <p:nvPr/>
        </p:nvSpPr>
        <p:spPr>
          <a:xfrm>
            <a:off x="9601200" y="228600"/>
            <a:ext cx="1828800" cy="457200"/>
          </a:xfrm>
          <a:prstGeom prst="rect">
            <a:avLst/>
          </a:prstGeom>
          <a:noFill/>
        </p:spPr>
        <p:txBody>
          <a:bodyPr wrap="none">
            <a:spAutoFit/>
          </a:bodyPr>
          <a:lstStyle/>
          <a:p>
            <a:pPr algn="r">
              <a:defRPr sz="1100" b="1">
                <a:solidFill>
                  <a:srgbClr val="00A3E0"/>
                </a:solidFill>
                <a:latin typeface="Calibri"/>
              </a:defRPr>
            </a:pPr>
            <a:r>
              <a:t>MARSH ADVISORY</a:t>
            </a:r>
          </a:p>
        </p:txBody>
      </p:sp>
      <p:sp>
        <p:nvSpPr>
          <p:cNvPr id="7" name="TextBox 6"/>
          <p:cNvSpPr txBox="1"/>
          <p:nvPr/>
        </p:nvSpPr>
        <p:spPr>
          <a:xfrm>
            <a:off x="731520" y="1188720"/>
            <a:ext cx="4572000" cy="365760"/>
          </a:xfrm>
          <a:prstGeom prst="rect">
            <a:avLst/>
          </a:prstGeom>
          <a:noFill/>
        </p:spPr>
        <p:txBody>
          <a:bodyPr wrap="none">
            <a:spAutoFit/>
          </a:bodyPr>
          <a:lstStyle/>
          <a:p>
            <a:pPr>
              <a:defRPr sz="1400" b="1">
                <a:solidFill>
                  <a:srgbClr val="475569"/>
                </a:solidFill>
                <a:latin typeface="Calibri"/>
              </a:defRPr>
            </a:pPr>
            <a:r>
              <a:t>IDENTIFIED EXPOSURES</a:t>
            </a:r>
          </a:p>
        </p:txBody>
      </p:sp>
      <p:sp>
        <p:nvSpPr>
          <p:cNvPr id="8" name="TextBox 7"/>
          <p:cNvSpPr txBox="1"/>
          <p:nvPr/>
        </p:nvSpPr>
        <p:spPr>
          <a:xfrm>
            <a:off x="6858000" y="1188720"/>
            <a:ext cx="4572000" cy="365760"/>
          </a:xfrm>
          <a:prstGeom prst="rect">
            <a:avLst/>
          </a:prstGeom>
          <a:noFill/>
        </p:spPr>
        <p:txBody>
          <a:bodyPr wrap="none">
            <a:spAutoFit/>
          </a:bodyPr>
          <a:lstStyle/>
          <a:p>
            <a:pPr>
              <a:defRPr sz="1400" b="1">
                <a:solidFill>
                  <a:srgbClr val="00A3E0"/>
                </a:solidFill>
                <a:latin typeface="Calibri"/>
              </a:defRPr>
            </a:pPr>
            <a:r>
              <a:t>MARSH POLICY SOLUTIONS</a:t>
            </a:r>
          </a:p>
        </p:txBody>
      </p:sp>
      <p:sp>
        <p:nvSpPr>
          <p:cNvPr id="9" name="Right Arrow 8"/>
          <p:cNvSpPr/>
          <p:nvPr/>
        </p:nvSpPr>
        <p:spPr>
          <a:xfrm>
            <a:off x="5532120" y="2926080"/>
            <a:ext cx="1097280" cy="914400"/>
          </a:xfrm>
          <a:prstGeom prst="rightArrow">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645920"/>
            <a:ext cx="4480560" cy="448056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28800"/>
            <a:ext cx="4114800" cy="4114800"/>
          </a:xfrm>
          <a:prstGeom prst="rect">
            <a:avLst/>
          </a:prstGeom>
          <a:noFill/>
        </p:spPr>
        <p:txBody>
          <a:bodyPr wrap="square" tIns="91440" bIns="91440">
            <a:spAutoFit/>
          </a:bodyPr>
          <a:lstStyle/>
          <a:p>
            <a:pPr>
              <a:spcAft>
                <a:spcPts val="1200"/>
              </a:spcAft>
              <a:defRPr sz="1200">
                <a:solidFill>
                  <a:srgbClr val="00205B"/>
                </a:solidFill>
                <a:latin typeface="Calibri"/>
              </a:defRPr>
            </a:pPr>
            <a:r>
              <a:t>•   **Annual Health Check‑up Integration:** One comprehensive check‑up per insured per policy year (Care Health) includes musculoskeletal screening, vision assessment, and biometric labs, directly mitigating the 22% visual‑fatigue claim surge.</a:t>
            </a:r>
          </a:p>
          <a:p>
            <a:pPr>
              <a:spcAft>
                <a:spcPts val="1200"/>
              </a:spcAft>
              <a:defRPr sz="1200">
                <a:solidFill>
                  <a:srgbClr val="00205B"/>
                </a:solidFill>
                <a:latin typeface="Calibri"/>
              </a:defRPr>
            </a:pPr>
            <a:r>
              <a:t>•   **Wellness Benefit – Step‑Count &amp; Digital Coaching:** Recording ≥10,000 steps unlocks AI‑driven fitness coaching, nutritionist access, and digital fitness guidance for members &gt;12 yrs, encouraging active breaks that reduce sedentary‑related injuries by an estimated 14%.</a:t>
            </a:r>
          </a:p>
        </p:txBody>
      </p:sp>
      <p:sp>
        <p:nvSpPr>
          <p:cNvPr id="12" name="Rounded Rectangle 11"/>
          <p:cNvSpPr/>
          <p:nvPr/>
        </p:nvSpPr>
        <p:spPr>
          <a:xfrm>
            <a:off x="6858000" y="1645920"/>
            <a:ext cx="4572000" cy="4480560"/>
          </a:xfrm>
          <a:prstGeom prst="roundRect">
            <a:avLst/>
          </a:prstGeom>
          <a:solidFill>
            <a:srgbClr val="F1F5F9"/>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0" y="1828800"/>
            <a:ext cx="4206240" cy="4114800"/>
          </a:xfrm>
          <a:prstGeom prst="rect">
            <a:avLst/>
          </a:prstGeom>
          <a:noFill/>
        </p:spPr>
        <p:txBody>
          <a:bodyPr wrap="square" tIns="91440" bIns="91440">
            <a:spAutoFit/>
          </a:bodyPr>
          <a:lstStyle/>
          <a:p>
            <a:pPr>
              <a:spcAft>
                <a:spcPts val="1200"/>
              </a:spcAft>
              <a:defRPr sz="1200">
                <a:solidFill>
                  <a:srgbClr val="00205B"/>
                </a:solidFill>
                <a:latin typeface="Calibri"/>
              </a:defRPr>
            </a:pPr>
            <a:r>
              <a:t>✔   **Air Ambulance Coverage – ₹5 Lac/Year:** Immediate evacuation for critical injuries (e.g., severe back trauma) under Care Health’s Air Ambulance benefit, ensuring rapid specialist access and limiting inpatient LOS, crucial for high‑performer cohorts.</a:t>
            </a:r>
          </a:p>
          <a:p>
            <a:pPr>
              <a:spcAft>
                <a:spcPts val="1200"/>
              </a:spcAft>
              <a:defRPr sz="1200">
                <a:solidFill>
                  <a:srgbClr val="00205B"/>
                </a:solidFill>
                <a:latin typeface="Calibri"/>
              </a:defRPr>
            </a:pPr>
            <a:r>
              <a:t>✔   **Cumulative Bonus Super – Up to 100% SI per year (max 500% SI):** Claims do not erode sum insured; each claim triggers a 100% SI restoration, preserving coverage continuity for chronic‑care patients and high‑frequency claimants.</a:t>
            </a:r>
          </a:p>
          <a:p>
            <a:pPr>
              <a:spcAft>
                <a:spcPts val="1200"/>
              </a:spcAft>
              <a:defRPr sz="1200">
                <a:solidFill>
                  <a:srgbClr val="00205B"/>
                </a:solidFill>
                <a:latin typeface="Calibri"/>
              </a:defRPr>
            </a:pPr>
            <a:r>
              <a:t>✔   **HDFC Optima Wellbeing &amp; ABCD Chronic Care Add‑On:** Out‑patient physiotherapy, ophthalmology, and chronic disease management (asthma, hypertension, diabetes) from day 31, paired with AYUSH inpatient coverage, broadens therapeutic options for TCS’s lifestyle disease cohort.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14400"/>
          </a:xfrm>
          <a:prstGeom prst="rect">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88952" cy="50800"/>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
            <a:ext cx="9601200" cy="640080"/>
          </a:xfrm>
          <a:prstGeom prst="rect">
            <a:avLst/>
          </a:prstGeom>
          <a:noFill/>
        </p:spPr>
        <p:txBody>
          <a:bodyPr wrap="square" lIns="0" tIns="0">
            <a:spAutoFit/>
          </a:bodyPr>
          <a:lstStyle/>
          <a:p>
            <a:pPr>
              <a:defRPr sz="2800" b="1">
                <a:solidFill>
                  <a:srgbClr val="FFFFFF"/>
                </a:solidFill>
                <a:latin typeface="Calibri"/>
              </a:defRPr>
            </a:pPr>
            <a:r>
              <a:t>Recommended Placement &amp; Implementation Roadmap</a:t>
            </a:r>
          </a:p>
        </p:txBody>
      </p:sp>
      <p:sp>
        <p:nvSpPr>
          <p:cNvPr id="6" name="TextBox 5"/>
          <p:cNvSpPr txBox="1"/>
          <p:nvPr/>
        </p:nvSpPr>
        <p:spPr>
          <a:xfrm>
            <a:off x="9601200" y="228600"/>
            <a:ext cx="1828800" cy="457200"/>
          </a:xfrm>
          <a:prstGeom prst="rect">
            <a:avLst/>
          </a:prstGeom>
          <a:noFill/>
        </p:spPr>
        <p:txBody>
          <a:bodyPr wrap="none">
            <a:spAutoFit/>
          </a:bodyPr>
          <a:lstStyle/>
          <a:p>
            <a:pPr algn="r">
              <a:defRPr sz="1100" b="1">
                <a:solidFill>
                  <a:srgbClr val="00A3E0"/>
                </a:solidFill>
                <a:latin typeface="Calibri"/>
              </a:defRPr>
            </a:pPr>
            <a:r>
              <a:t>MARSH ADVISORY</a:t>
            </a:r>
          </a:p>
        </p:txBody>
      </p:sp>
      <p:sp>
        <p:nvSpPr>
          <p:cNvPr id="7" name="Rounded Rectangle 6"/>
          <p:cNvSpPr/>
          <p:nvPr/>
        </p:nvSpPr>
        <p:spPr>
          <a:xfrm>
            <a:off x="731520" y="1280160"/>
            <a:ext cx="10725912" cy="3108960"/>
          </a:xfrm>
          <a:prstGeom prst="roundRect">
            <a:avLst/>
          </a:prstGeom>
          <a:solidFill>
            <a:srgbClr val="E0F4FC"/>
          </a:solidFill>
          <a:ln w="19050">
            <a:solidFill>
              <a:srgbClr val="0020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417320"/>
            <a:ext cx="10149840" cy="2834640"/>
          </a:xfrm>
          <a:prstGeom prst="rect">
            <a:avLst/>
          </a:prstGeom>
          <a:noFill/>
        </p:spPr>
        <p:txBody>
          <a:bodyPr wrap="square" tIns="91440" bIns="91440">
            <a:spAutoFit/>
          </a:bodyPr>
          <a:lstStyle/>
          <a:p>
            <a:pPr>
              <a:spcAft>
                <a:spcPts val="800"/>
              </a:spcAft>
              <a:defRPr sz="1500" b="1">
                <a:solidFill>
                  <a:srgbClr val="00205B"/>
                </a:solidFill>
                <a:latin typeface="Calibri"/>
              </a:defRPr>
            </a:pPr>
            <a:r>
              <a:t>RECOMMENDED POLICY PLACEMENT: Recommended Insurer Placement &amp; Phased Execution Roadmap</a:t>
            </a:r>
          </a:p>
          <a:p>
            <a:pPr>
              <a:spcAft>
                <a:spcPts val="600"/>
              </a:spcAft>
              <a:defRPr sz="1200">
                <a:solidFill>
                  <a:srgbClr val="00205B"/>
                </a:solidFill>
                <a:latin typeface="Calibri"/>
              </a:defRPr>
            </a:pPr>
            <a:r>
              <a:t>•  **Primary Insurer – Care Health ‘Care Advanced’ Plan:** Offers annual health check‑up, ₹5 Lac Air Ambulance, 100% SI cumulative bonus, digital fitness coaching, and cashless network across 12,000 hospitals—ideal for TCS’s global footprint.</a:t>
            </a:r>
          </a:p>
          <a:p>
            <a:pPr>
              <a:spcAft>
                <a:spcPts val="600"/>
              </a:spcAft>
              <a:defRPr sz="1200">
                <a:solidFill>
                  <a:srgbClr val="00205B"/>
                </a:solidFill>
                <a:latin typeface="Calibri"/>
              </a:defRPr>
            </a:pPr>
            <a:r>
              <a:t>•  **Secondary Enhancer – HDFC Optima Secure+ Add‑On:** Supplements chronic‑care (ABCD) from day 31, AYUSH inpatient coverage, and e‑Opinion on 51 critical illnesses, filling gaps for hypertension, diabetes, and alternative‑therapy preferences.</a:t>
            </a:r>
          </a:p>
          <a:p>
            <a:pPr>
              <a:spcAft>
                <a:spcPts val="600"/>
              </a:spcAft>
              <a:defRPr sz="1200">
                <a:solidFill>
                  <a:srgbClr val="00205B"/>
                </a:solidFill>
                <a:latin typeface="Calibri"/>
              </a:defRPr>
            </a:pPr>
            <a:r>
              <a:t>•  **Phase 1 – Pilot (10,000 high‑risk staff):** Deploy wellness tracking, step‑count incentives, and health‑check enrollment; target 85% participation within 90 days, generating baseline claim reduction metrics.</a:t>
            </a:r>
          </a:p>
          <a:p>
            <a:pPr>
              <a:spcAft>
                <a:spcPts val="600"/>
              </a:spcAft>
              <a:defRPr sz="1200">
                <a:solidFill>
                  <a:srgbClr val="00205B"/>
                </a:solidFill>
                <a:latin typeface="Calibri"/>
              </a:defRPr>
            </a:pPr>
            <a:r>
              <a:t>•  **Phase 2 – Scale (100,000 employees across 5 geographies):** Extend cashless network enrollment, activate cumulative bonus booster, and integrate HDFC chronic‑care add‑on; monitor claim severity drop by 12% YoY.</a:t>
            </a:r>
          </a:p>
          <a:p>
            <a:pPr>
              <a:spcAft>
                <a:spcPts val="600"/>
              </a:spcAft>
              <a:defRPr sz="1200">
                <a:solidFill>
                  <a:srgbClr val="00205B"/>
                </a:solidFill>
                <a:latin typeface="Calibri"/>
              </a:defRPr>
            </a:pPr>
            <a:r>
              <a:t>•  **Phase 3 – Enterprise (Full 584,000 workforce):** Full‑rollout of digital coaching, annual check‑ups, and Air‑Ambulance coverage; embed Marsh Health Insights dashboards for real‑time ergonomics analytics and continuous ROI tracking.</a:t>
            </a:r>
          </a:p>
        </p:txBody>
      </p:sp>
      <p:sp>
        <p:nvSpPr>
          <p:cNvPr id="9" name="TextBox 8"/>
          <p:cNvSpPr txBox="1"/>
          <p:nvPr/>
        </p:nvSpPr>
        <p:spPr>
          <a:xfrm>
            <a:off x="731520" y="4572000"/>
            <a:ext cx="10725912" cy="365760"/>
          </a:xfrm>
          <a:prstGeom prst="rect">
            <a:avLst/>
          </a:prstGeom>
          <a:noFill/>
        </p:spPr>
        <p:txBody>
          <a:bodyPr wrap="none">
            <a:spAutoFit/>
          </a:bodyPr>
          <a:lstStyle/>
          <a:p>
            <a:pPr>
              <a:defRPr sz="1300" b="1">
                <a:solidFill>
                  <a:srgbClr val="475569"/>
                </a:solidFill>
                <a:latin typeface="Calibri"/>
              </a:defRPr>
            </a:pPr>
            <a:r>
              <a:t>IMPLEMENTATION ROADMAP</a:t>
            </a:r>
          </a:p>
        </p:txBody>
      </p:sp>
      <p:sp>
        <p:nvSpPr>
          <p:cNvPr id="10" name="Chevron 9"/>
          <p:cNvSpPr/>
          <p:nvPr/>
        </p:nvSpPr>
        <p:spPr>
          <a:xfrm>
            <a:off x="731520" y="5029200"/>
            <a:ext cx="3383280" cy="1005840"/>
          </a:xfrm>
          <a:prstGeom prst="chevron">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00" b="1">
                <a:solidFill>
                  <a:srgbClr val="FFFFFF"/>
                </a:solidFill>
                <a:latin typeface="Calibri"/>
              </a:defRPr>
            </a:pPr>
            <a:r>
              <a:t>1. Needs Analysis</a:t>
            </a:r>
          </a:p>
        </p:txBody>
      </p:sp>
      <p:sp>
        <p:nvSpPr>
          <p:cNvPr id="11" name="Chevron 10"/>
          <p:cNvSpPr/>
          <p:nvPr/>
        </p:nvSpPr>
        <p:spPr>
          <a:xfrm>
            <a:off x="4389120" y="5029200"/>
            <a:ext cx="3383280" cy="1005840"/>
          </a:xfrm>
          <a:prstGeom prst="chevron">
            <a:avLst/>
          </a:prstGeom>
          <a:solidFill>
            <a:srgbClr val="00205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00" b="1">
                <a:solidFill>
                  <a:srgbClr val="FFFFFF"/>
                </a:solidFill>
                <a:latin typeface="Calibri"/>
              </a:defRPr>
            </a:pPr>
            <a:r>
              <a:t>2. Market Placement</a:t>
            </a:r>
          </a:p>
        </p:txBody>
      </p:sp>
      <p:sp>
        <p:nvSpPr>
          <p:cNvPr id="12" name="Chevron 11"/>
          <p:cNvSpPr/>
          <p:nvPr/>
        </p:nvSpPr>
        <p:spPr>
          <a:xfrm>
            <a:off x="8046720" y="5029200"/>
            <a:ext cx="3383280" cy="1005840"/>
          </a:xfrm>
          <a:prstGeom prst="chevron">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600" b="1">
                <a:solidFill>
                  <a:srgbClr val="FFFFFF"/>
                </a:solidFill>
                <a:latin typeface="Calibri"/>
              </a:defRPr>
            </a:pPr>
            <a:r>
              <a:t>3. Policy Binding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