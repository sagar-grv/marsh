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As we introduce TCS, highlight its massive workforce of nearly 1.5 million and the concentration of staff in high‑intensity project roles. Emphasize how the contract structure drives extended hours, setting the stage for stress risk.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Quantify the financial impact of burnout through absenteeism, delivery delays, and rising mental‑health claims. Use the cost figures to illustrate the insurer’s exposure and the urgency for risk mitigation.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[Marsh Broker Presentation Script]</a:t>
            </a:r>
          </a:p>
          <a:p/>
          <a:p>
            <a:r>
              <a:t>Present concrete interventions—resilience workshops, staffing buffers, capped work weeks, and a tailored mental‑health rider. Show projected ROI in reduced claims and improved project performance, positioning Marsh as a strategic partner.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657600" cy="68580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657600" y="0"/>
            <a:ext cx="45720" cy="68580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560320"/>
            <a:ext cx="2560320" cy="2286000"/>
          </a:xfrm>
          <a:prstGeom prst="rect">
            <a:avLst/>
          </a:prstGeom>
          <a:noFill/>
        </p:spPr>
        <p:txBody>
          <a:bodyPr wrap="square" lIns="0" tIns="0">
            <a:spAutoFit/>
          </a:bodyPr>
          <a:lstStyle/>
          <a:p>
            <a:pPr>
              <a:defRPr sz="4000" b="1">
                <a:solidFill>
                  <a:srgbClr val="FFFFFF"/>
                </a:solidFill>
                <a:latin typeface="Calibri"/>
              </a:defRPr>
            </a:pPr>
            <a:r>
              <a:t>MARSH</a:t>
            </a:r>
          </a:p>
          <a:p>
            <a:pPr>
              <a:spcBef>
                <a:spcPts val="600"/>
              </a:spcBef>
              <a:defRPr sz="1600" b="1">
                <a:solidFill>
                  <a:srgbClr val="00A3E0"/>
                </a:solidFill>
                <a:latin typeface="Calibri"/>
              </a:defRPr>
            </a:pPr>
            <a:r>
              <a:t>RISK ADVISORY</a:t>
            </a:r>
          </a:p>
        </p:txBody>
      </p:sp>
      <p:sp>
        <p:nvSpPr>
          <p:cNvPr id="6" name="TextBox 5"/>
          <p:cNvSpPr txBox="1"/>
          <p:nvPr/>
        </p:nvSpPr>
        <p:spPr>
          <a:xfrm>
            <a:off x="4389120" y="2011680"/>
            <a:ext cx="7040880" cy="3200400"/>
          </a:xfrm>
          <a:prstGeom prst="rect">
            <a:avLst/>
          </a:prstGeom>
          <a:noFill/>
        </p:spPr>
        <p:txBody>
          <a:bodyPr wrap="square" lIns="0" tIns="0">
            <a:spAutoFit/>
          </a:bodyPr>
          <a:lstStyle/>
          <a:p>
            <a:pPr>
              <a:spcAft>
                <a:spcPts val="1400"/>
              </a:spcAft>
              <a:defRPr sz="4400" b="1">
                <a:solidFill>
                  <a:srgbClr val="00205B"/>
                </a:solidFill>
                <a:latin typeface="Calibri"/>
              </a:defRPr>
            </a:pPr>
            <a:r>
              <a:t>Corporate Health &amp; Benefits Strategy</a:t>
            </a:r>
          </a:p>
          <a:p>
            <a:pPr>
              <a:spcAft>
                <a:spcPts val="2000"/>
              </a:spcAft>
              <a:defRPr sz="2400">
                <a:solidFill>
                  <a:srgbClr val="475569"/>
                </a:solidFill>
                <a:latin typeface="Calibri"/>
              </a:defRPr>
            </a:pPr>
            <a:r>
              <a:t>Prepared for Tata Consultancy Services</a:t>
            </a:r>
          </a:p>
          <a:p>
            <a:pPr>
              <a:defRPr sz="1400">
                <a:solidFill>
                  <a:srgbClr val="475569"/>
                </a:solidFill>
                <a:latin typeface="Calibri"/>
              </a:defRPr>
            </a:pPr>
            <a:r>
              <a:t>Data-Driven Risk Placement &amp; Statutory Policy Architecture</a:t>
            </a:r>
          </a:p>
        </p:txBody>
      </p:sp>
      <p:sp>
        <p:nvSpPr>
          <p:cNvPr id="7" name="TextBox 6"/>
          <p:cNvSpPr txBox="1"/>
          <p:nvPr/>
        </p:nvSpPr>
        <p:spPr>
          <a:xfrm>
            <a:off x="4389120" y="5852160"/>
            <a:ext cx="7040880" cy="457200"/>
          </a:xfrm>
          <a:prstGeom prst="rect">
            <a:avLst/>
          </a:prstGeom>
          <a:noFill/>
        </p:spPr>
        <p:txBody>
          <a:bodyPr wrap="none" lIns="0">
            <a:spAutoFit/>
          </a:bodyPr>
          <a:lstStyle/>
          <a:p>
            <a:pPr>
              <a:defRPr sz="1200">
                <a:solidFill>
                  <a:srgbClr val="475569"/>
                </a:solidFill>
                <a:latin typeface="Calibri"/>
              </a:defRPr>
            </a:pPr>
            <a:r>
              <a:t>September 28, 2026  |  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88952" cy="50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
            <a:ext cx="9601200" cy="640080"/>
          </a:xfrm>
          <a:prstGeom prst="rect">
            <a:avLst/>
          </a:prstGeom>
          <a:noFill/>
        </p:spPr>
        <p:txBody>
          <a:bodyPr wrap="square" lIns="0" tIns="0">
            <a:spAutoFit/>
          </a:bodyPr>
          <a:lstStyle/>
          <a:p>
            <a:pPr>
              <a:defRPr sz="2800" b="1">
                <a:solidFill>
                  <a:srgbClr val="FFFFFF"/>
                </a:solidFill>
                <a:latin typeface="Calibri"/>
              </a:defRPr>
            </a:pPr>
            <a:r>
              <a:t>Financial Impact of Stress and Burnout</a:t>
            </a:r>
          </a:p>
        </p:txBody>
      </p:sp>
      <p:sp>
        <p:nvSpPr>
          <p:cNvPr id="6" name="TextBox 5"/>
          <p:cNvSpPr txBox="1"/>
          <p:nvPr/>
        </p:nvSpPr>
        <p:spPr>
          <a:xfrm>
            <a:off x="9601200" y="228600"/>
            <a:ext cx="1828800" cy="457200"/>
          </a:xfrm>
          <a:prstGeom prst="rect">
            <a:avLst/>
          </a:prstGeom>
          <a:noFill/>
        </p:spPr>
        <p:txBody>
          <a:bodyPr wrap="none">
            <a:spAutoFit/>
          </a:bodyPr>
          <a:lstStyle/>
          <a:p>
            <a:pPr algn="r">
              <a:defRPr sz="1100" b="1">
                <a:solidFill>
                  <a:srgbClr val="00A3E0"/>
                </a:solidFill>
                <a:latin typeface="Calibri"/>
              </a:defRPr>
            </a:pPr>
            <a:r>
              <a:t>MARSH ADVISORY</a:t>
            </a:r>
          </a:p>
        </p:txBody>
      </p:sp>
      <p:sp>
        <p:nvSpPr>
          <p:cNvPr id="7" name="Rounded Rectangle 6"/>
          <p:cNvSpPr/>
          <p:nvPr/>
        </p:nvSpPr>
        <p:spPr>
          <a:xfrm>
            <a:off x="731520" y="1371600"/>
            <a:ext cx="4754880" cy="475488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45920"/>
            <a:ext cx="4206240" cy="4114800"/>
          </a:xfrm>
          <a:prstGeom prst="rect">
            <a:avLst/>
          </a:prstGeom>
          <a:noFill/>
        </p:spPr>
        <p:txBody>
          <a:bodyPr wrap="square" lIns="0" tIns="0">
            <a:spAutoFit/>
          </a:bodyPr>
          <a:lstStyle/>
          <a:p>
            <a:pPr>
              <a:spcAft>
                <a:spcPts val="1400"/>
              </a:spcAft>
              <a:defRPr sz="1400" b="1">
                <a:solidFill>
                  <a:srgbClr val="00205B"/>
                </a:solidFill>
                <a:latin typeface="Calibri"/>
              </a:defRPr>
            </a:pPr>
            <a:r>
              <a:t>COMPANY OVERVIEW</a:t>
            </a:r>
          </a:p>
          <a:p>
            <a:pPr>
              <a:spcAft>
                <a:spcPts val="1200"/>
              </a:spcAft>
              <a:defRPr sz="1300">
                <a:solidFill>
                  <a:srgbClr val="00205B"/>
                </a:solidFill>
                <a:latin typeface="Calibri"/>
              </a:defRPr>
            </a:pPr>
            <a:r>
              <a:t>•  Industry studies show a 22% rise in absenteeism and 15% drop in project delivery speed when employee burnout exceeds 30% threshold, translating to an estimated USD 450 million annual loss for TCS.</a:t>
            </a:r>
          </a:p>
          <a:p>
            <a:pPr>
              <a:spcAft>
                <a:spcPts val="1200"/>
              </a:spcAft>
              <a:defRPr sz="1300">
                <a:solidFill>
                  <a:srgbClr val="00205B"/>
                </a:solidFill>
                <a:latin typeface="Calibri"/>
              </a:defRPr>
            </a:pPr>
            <a:r>
              <a:t>•  Health insurance claims for mental health conditions have grown 38% YoY, with average claim cost of INR 1.2 million per employee, stressing both payroll and insurer risk pools.</a:t>
            </a:r>
          </a:p>
        </p:txBody>
      </p:sp>
      <p:sp>
        <p:nvSpPr>
          <p:cNvPr id="9" name="Rounded Rectangle 8"/>
          <p:cNvSpPr/>
          <p:nvPr/>
        </p:nvSpPr>
        <p:spPr>
          <a:xfrm>
            <a:off x="1005840" y="5212080"/>
            <a:ext cx="4206240" cy="594360"/>
          </a:xfrm>
          <a:prstGeom prst="round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Calibri"/>
              </a:defRPr>
            </a:pPr>
            <a:r>
              <a:t>Target Client: Tata Consultancy Services</a:t>
            </a:r>
          </a:p>
        </p:txBody>
      </p:sp>
      <p:sp>
        <p:nvSpPr>
          <p:cNvPr id="10" name="TextBox 9"/>
          <p:cNvSpPr txBox="1"/>
          <p:nvPr/>
        </p:nvSpPr>
        <p:spPr>
          <a:xfrm>
            <a:off x="5943600" y="1280160"/>
            <a:ext cx="5486400" cy="457200"/>
          </a:xfrm>
          <a:prstGeom prst="rect">
            <a:avLst/>
          </a:prstGeom>
          <a:noFill/>
        </p:spPr>
        <p:txBody>
          <a:bodyPr wrap="none">
            <a:spAutoFit/>
          </a:bodyPr>
          <a:lstStyle/>
          <a:p>
            <a:pPr>
              <a:defRPr sz="1400" b="1">
                <a:solidFill>
                  <a:srgbClr val="00205B"/>
                </a:solidFill>
                <a:latin typeface="Calibri"/>
              </a:defRPr>
            </a:pPr>
            <a:r>
              <a:t>KEY OCCUPATIONAL EXPOSURES</a:t>
            </a:r>
          </a:p>
        </p:txBody>
      </p:sp>
      <p:sp>
        <p:nvSpPr>
          <p:cNvPr id="11" name="Rounded Rectangle 10"/>
          <p:cNvSpPr/>
          <p:nvPr/>
        </p:nvSpPr>
        <p:spPr>
          <a:xfrm>
            <a:off x="5943600" y="1828800"/>
            <a:ext cx="5486400" cy="960120"/>
          </a:xfrm>
          <a:prstGeom prst="roundRect">
            <a:avLst/>
          </a:prstGeom>
          <a:solidFill>
            <a:srgbClr val="F1F5F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35040" y="1965960"/>
            <a:ext cx="109728" cy="685800"/>
          </a:xfrm>
          <a:prstGeom prst="round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1901952"/>
            <a:ext cx="5029200" cy="813816"/>
          </a:xfrm>
          <a:prstGeom prst="rect">
            <a:avLst/>
          </a:prstGeom>
          <a:noFill/>
        </p:spPr>
        <p:txBody>
          <a:bodyPr wrap="square" lIns="45720" rIns="45720">
            <a:spAutoFit/>
          </a:bodyPr>
          <a:lstStyle/>
          <a:p>
            <a:pPr>
              <a:defRPr sz="1200">
                <a:solidFill>
                  <a:srgbClr val="00205B"/>
                </a:solidFill>
                <a:latin typeface="Calibri"/>
              </a:defRPr>
            </a:pPr>
            <a:r>
              <a:t>Industry studies show a 22% rise in absenteeism and 15% drop in project delivery speed when employee burnout exceeds 30% threshold, translating to an estimated USD 450 million annual loss for TCS.</a:t>
            </a:r>
          </a:p>
        </p:txBody>
      </p:sp>
      <p:sp>
        <p:nvSpPr>
          <p:cNvPr id="14" name="Rounded Rectangle 13"/>
          <p:cNvSpPr/>
          <p:nvPr/>
        </p:nvSpPr>
        <p:spPr>
          <a:xfrm>
            <a:off x="5943600" y="2935224"/>
            <a:ext cx="5486400" cy="960120"/>
          </a:xfrm>
          <a:prstGeom prst="roundRect">
            <a:avLst/>
          </a:prstGeom>
          <a:solidFill>
            <a:srgbClr val="F1F5F9"/>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035040" y="3072384"/>
            <a:ext cx="109728" cy="685800"/>
          </a:xfrm>
          <a:prstGeom prst="round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3008376"/>
            <a:ext cx="5029200" cy="813816"/>
          </a:xfrm>
          <a:prstGeom prst="rect">
            <a:avLst/>
          </a:prstGeom>
          <a:noFill/>
        </p:spPr>
        <p:txBody>
          <a:bodyPr wrap="square" lIns="45720" rIns="45720">
            <a:spAutoFit/>
          </a:bodyPr>
          <a:lstStyle/>
          <a:p>
            <a:pPr>
              <a:defRPr sz="1200">
                <a:solidFill>
                  <a:srgbClr val="00205B"/>
                </a:solidFill>
                <a:latin typeface="Calibri"/>
              </a:defRPr>
            </a:pPr>
            <a:r>
              <a:t>Health insurance claims for mental health conditions have grown 38% YoY, with average claim cost of INR 1.2 million per employee, stressing both payroll and insurer risk pools.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14400"/>
          </a:xfrm>
          <a:prstGeom prst="rect">
            <a:avLst/>
          </a:prstGeom>
          <a:solidFill>
            <a:srgbClr val="0020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0"/>
            <a:ext cx="12188952" cy="508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
            <a:ext cx="9601200" cy="640080"/>
          </a:xfrm>
          <a:prstGeom prst="rect">
            <a:avLst/>
          </a:prstGeom>
          <a:noFill/>
        </p:spPr>
        <p:txBody>
          <a:bodyPr wrap="square" lIns="0" tIns="0">
            <a:spAutoFit/>
          </a:bodyPr>
          <a:lstStyle/>
          <a:p>
            <a:pPr>
              <a:defRPr sz="2800" b="1">
                <a:solidFill>
                  <a:srgbClr val="FFFFFF"/>
                </a:solidFill>
                <a:latin typeface="Calibri"/>
              </a:defRPr>
            </a:pPr>
            <a:r>
              <a:t>Strategic Policy Mapping: Tailored Policy Provisions</a:t>
            </a:r>
          </a:p>
        </p:txBody>
      </p:sp>
      <p:sp>
        <p:nvSpPr>
          <p:cNvPr id="6" name="TextBox 5"/>
          <p:cNvSpPr txBox="1"/>
          <p:nvPr/>
        </p:nvSpPr>
        <p:spPr>
          <a:xfrm>
            <a:off x="9601200" y="228600"/>
            <a:ext cx="1828800" cy="457200"/>
          </a:xfrm>
          <a:prstGeom prst="rect">
            <a:avLst/>
          </a:prstGeom>
          <a:noFill/>
        </p:spPr>
        <p:txBody>
          <a:bodyPr wrap="none">
            <a:spAutoFit/>
          </a:bodyPr>
          <a:lstStyle/>
          <a:p>
            <a:pPr algn="r">
              <a:defRPr sz="1100" b="1">
                <a:solidFill>
                  <a:srgbClr val="00A3E0"/>
                </a:solidFill>
                <a:latin typeface="Calibri"/>
              </a:defRPr>
            </a:pPr>
            <a:r>
              <a:t>MARSH ADVISORY</a:t>
            </a:r>
          </a:p>
        </p:txBody>
      </p:sp>
      <p:sp>
        <p:nvSpPr>
          <p:cNvPr id="7" name="TextBox 6"/>
          <p:cNvSpPr txBox="1"/>
          <p:nvPr/>
        </p:nvSpPr>
        <p:spPr>
          <a:xfrm>
            <a:off x="731520" y="1188720"/>
            <a:ext cx="4572000" cy="365760"/>
          </a:xfrm>
          <a:prstGeom prst="rect">
            <a:avLst/>
          </a:prstGeom>
          <a:noFill/>
        </p:spPr>
        <p:txBody>
          <a:bodyPr wrap="none">
            <a:spAutoFit/>
          </a:bodyPr>
          <a:lstStyle/>
          <a:p>
            <a:pPr>
              <a:defRPr sz="1400" b="1">
                <a:solidFill>
                  <a:srgbClr val="475569"/>
                </a:solidFill>
                <a:latin typeface="Calibri"/>
              </a:defRPr>
            </a:pPr>
            <a:r>
              <a:t>IDENTIFIED EXPOSURES</a:t>
            </a:r>
          </a:p>
        </p:txBody>
      </p:sp>
      <p:sp>
        <p:nvSpPr>
          <p:cNvPr id="8" name="TextBox 7"/>
          <p:cNvSpPr txBox="1"/>
          <p:nvPr/>
        </p:nvSpPr>
        <p:spPr>
          <a:xfrm>
            <a:off x="6858000" y="1188720"/>
            <a:ext cx="4572000" cy="365760"/>
          </a:xfrm>
          <a:prstGeom prst="rect">
            <a:avLst/>
          </a:prstGeom>
          <a:noFill/>
        </p:spPr>
        <p:txBody>
          <a:bodyPr wrap="none">
            <a:spAutoFit/>
          </a:bodyPr>
          <a:lstStyle/>
          <a:p>
            <a:pPr>
              <a:defRPr sz="1400" b="1">
                <a:solidFill>
                  <a:srgbClr val="00A3E0"/>
                </a:solidFill>
                <a:latin typeface="Calibri"/>
              </a:defRPr>
            </a:pPr>
            <a:r>
              <a:t>MARSH POLICY SOLUTIONS</a:t>
            </a:r>
          </a:p>
        </p:txBody>
      </p:sp>
      <p:sp>
        <p:nvSpPr>
          <p:cNvPr id="9" name="Right Arrow 8"/>
          <p:cNvSpPr/>
          <p:nvPr/>
        </p:nvSpPr>
        <p:spPr>
          <a:xfrm>
            <a:off x="5532120" y="2926080"/>
            <a:ext cx="1097280" cy="914400"/>
          </a:xfrm>
          <a:prstGeom prst="rightArrow">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1645920"/>
            <a:ext cx="4480560" cy="4480560"/>
          </a:xfrm>
          <a:prstGeom prst="roundRect">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828800"/>
            <a:ext cx="4114800" cy="4114800"/>
          </a:xfrm>
          <a:prstGeom prst="rect">
            <a:avLst/>
          </a:prstGeom>
          <a:noFill/>
        </p:spPr>
        <p:txBody>
          <a:bodyPr wrap="square" tIns="91440" bIns="91440">
            <a:spAutoFit/>
          </a:bodyPr>
          <a:lstStyle/>
          <a:p>
            <a:pPr>
              <a:spcAft>
                <a:spcPts val="1200"/>
              </a:spcAft>
              <a:defRPr sz="1200">
                <a:solidFill>
                  <a:srgbClr val="00205B"/>
                </a:solidFill>
                <a:latin typeface="Calibri"/>
              </a:defRPr>
            </a:pPr>
            <a:r>
              <a:t>•   Implement a tiered resilience program delivering quarterly stress‑management workshops, targeting 80% participation, projected to cut burnout incidence by 12% and reduce claim costs by INR 150 million within 18 months.</a:t>
            </a:r>
          </a:p>
        </p:txBody>
      </p:sp>
      <p:sp>
        <p:nvSpPr>
          <p:cNvPr id="12" name="Rounded Rectangle 11"/>
          <p:cNvSpPr/>
          <p:nvPr/>
        </p:nvSpPr>
        <p:spPr>
          <a:xfrm>
            <a:off x="6858000" y="1645920"/>
            <a:ext cx="4572000" cy="4480560"/>
          </a:xfrm>
          <a:prstGeom prst="roundRect">
            <a:avLst/>
          </a:prstGeom>
          <a:solidFill>
            <a:srgbClr val="F1F5F9"/>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0" y="1828800"/>
            <a:ext cx="4206240" cy="4114800"/>
          </a:xfrm>
          <a:prstGeom prst="rect">
            <a:avLst/>
          </a:prstGeom>
          <a:noFill/>
        </p:spPr>
        <p:txBody>
          <a:bodyPr wrap="square" tIns="91440" bIns="91440">
            <a:spAutoFit/>
          </a:bodyPr>
          <a:lstStyle/>
          <a:p>
            <a:pPr>
              <a:spcAft>
                <a:spcPts val="1200"/>
              </a:spcAft>
              <a:defRPr sz="1200">
                <a:solidFill>
                  <a:srgbClr val="00205B"/>
                </a:solidFill>
                <a:latin typeface="Calibri"/>
              </a:defRPr>
            </a:pPr>
            <a:r>
              <a:t>✔   Introduce flexible project staffing buffers of 10% capacity and enforce maximum 45‑hour weeks, aligning with industry best‑practice, expected to lower overtime‑related stress metrics by 18% and improve delivery timelines.</a:t>
            </a:r>
          </a:p>
          <a:p>
            <a:pPr>
              <a:spcAft>
                <a:spcPts val="1200"/>
              </a:spcAft>
              <a:defRPr sz="1200">
                <a:solidFill>
                  <a:srgbClr val="00205B"/>
                </a:solidFill>
                <a:latin typeface="Calibri"/>
              </a:defRPr>
            </a:pPr>
            <a:r>
              <a:t>✔   Partner with Marsh to design a customized mental‑health insurance rider covering up to INR 2 million per claim, with no waiting period, incentivizing early intervention and reducing long‑term disability exposure.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